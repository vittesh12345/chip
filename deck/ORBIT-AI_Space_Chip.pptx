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ory" id="{b779f3b5-5fc8-977a-f5cb-11d2478f7e48}">
          <p14:sldIdLst>
            <p14:sldId id="256"/>
            <p14:sldId id="257"/>
            <p14:sldId id="258"/>
            <p14:sldId id="259"/>
          </p14:sldIdLst>
        </p14:section>
        <p14:section name="Evidence" id="{ea3f31f6-cc41-d7b9-479b-43648b1a6ff0}">
          <p14:sldIdLst>
            <p14:sldId id="260"/>
            <p14:sldId id="261"/>
            <p14:sldId id="262"/>
          </p14:sldIdLst>
        </p14:section>
        <p14:section name="Market and next steps" id="{83f0aa64-f3ff-9f37-c683-20d1793aa3b3}">
          <p14:sldIdLst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one-liner: an AI inference chip that refuses to give a wrong answer when radiation hits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the choice is slow rad-hard CPUs or fast commercial chips with no protection.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Yosys, OpenROAD, sky130. Everything is in the open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Duplicate plus compare on the datapath, TMR on the thermal state machine (80, 95, 70 C thresholds).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Gate-level simulation, not a beam test. Radiation testing is a next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Measured on the routed layout, not estimated.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OpenROAD flow scripts, sky130hd standard cells.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Ticks mean published capability. Competitor figures come from public sources and should be re-verified before external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explicit: only the demonstrator is built. No radiation or flight qualification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(dark)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812800" y="812800"/>
            <a:ext cx="6096000" cy="1968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Bef>
                <a:spcPts val="1"/>
              </a:spcBef>
              <a:buNone/>
              <a:defRPr lang="en-US" sz="1200" spc="144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algn="l" indent="0" marL="0">
              <a:spcBef>
                <a:spcPts val="1"/>
              </a:spcBef>
              <a:buNone/>
            </a:pPr>
            <a:endParaRPr lang="en-US" sz="1200" dirty="0"/>
          </a:p>
        </p:txBody>
      </p:sp>
      <p:sp>
        <p:nvSpPr>
          <p:cNvPr id="3" name="Title"/>
          <p:cNvSpPr/>
          <p:nvPr>
            <p:ph idx="101" type="title" hasCustomPrompt="1"/>
          </p:nvPr>
        </p:nvSpPr>
        <p:spPr>
          <a:xfrm>
            <a:off x="812800" y="2212380"/>
            <a:ext cx="5105400" cy="1092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ts val="8400"/>
              </a:lnSpc>
              <a:buNone/>
              <a:defRPr lang="en-US" sz="8400" b="1" spc="-336" kern="0" dirty="0">
                <a:solidFill>
                  <a:schemeClr val="bg2"/>
                </a:solidFill>
              </a:defRPr>
            </a:lvl1pPr>
          </a:lstStyle>
          <a:p>
            <a:pPr algn="l" indent="0" marL="0">
              <a:lnSpc>
                <a:spcPts val="8400"/>
              </a:lnSpc>
              <a:buNone/>
            </a:pPr>
            <a:endParaRPr lang="en-US" sz="8400" dirty="0"/>
          </a:p>
        </p:txBody>
      </p:sp>
      <p:sp>
        <p:nvSpPr>
          <p:cNvPr id="4" name="Footer"/>
          <p:cNvSpPr txBox="1"/>
          <p:nvPr/>
        </p:nvSpPr>
        <p:spPr>
          <a:xfrm>
            <a:off x="8839200" y="5873750"/>
            <a:ext cx="2540000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(dark)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812800" y="812800"/>
            <a:ext cx="6096000" cy="1968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Bef>
                <a:spcPts val="1"/>
              </a:spcBef>
              <a:buNone/>
              <a:defRPr lang="en-US" sz="1200" spc="144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algn="l" indent="0" marL="0">
              <a:spcBef>
                <a:spcPts val="1"/>
              </a:spcBef>
              <a:buNone/>
            </a:pPr>
            <a:endParaRPr lang="en-US" sz="1200" dirty="0"/>
          </a:p>
        </p:txBody>
      </p:sp>
      <p:sp>
        <p:nvSpPr>
          <p:cNvPr id="3" name="Page tag"/>
          <p:cNvSpPr/>
          <p:nvPr>
            <p:ph idx="101" type="body" hasCustomPrompt="1"/>
          </p:nvPr>
        </p:nvSpPr>
        <p:spPr>
          <a:xfrm>
            <a:off x="7823200" y="812800"/>
            <a:ext cx="3556000" cy="1968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spcBef>
                <a:spcPts val="1"/>
              </a:spcBef>
              <a:buNone/>
              <a:defRPr lang="en-US" sz="1200" spc="144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algn="r" indent="0" marL="0">
              <a:spcBef>
                <a:spcPts val="1"/>
              </a:spcBef>
              <a:buNone/>
            </a:pPr>
            <a:endParaRPr lang="en-US" sz="12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812800" y="1339850"/>
            <a:ext cx="10617200" cy="612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ts val="4620"/>
              </a:lnSpc>
              <a:buNone/>
              <a:defRPr lang="en-US" sz="4400" b="1" spc="-88" kern="0" dirty="0">
                <a:solidFill>
                  <a:schemeClr val="bg2"/>
                </a:solidFill>
              </a:defRPr>
            </a:lvl1pPr>
          </a:lstStyle>
          <a:p>
            <a:pPr algn="l" indent="0" marL="0">
              <a:lnSpc>
                <a:spcPts val="4620"/>
              </a:lnSpc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(light)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812800" y="812800"/>
            <a:ext cx="6096000" cy="1968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Bef>
                <a:spcPts val="1"/>
              </a:spcBef>
              <a:buNone/>
              <a:defRPr lang="en-US" sz="1200" spc="144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algn="l" indent="0" marL="0">
              <a:spcBef>
                <a:spcPts val="1"/>
              </a:spcBef>
              <a:buNone/>
            </a:pPr>
            <a:endParaRPr lang="en-US" sz="1200" dirty="0"/>
          </a:p>
        </p:txBody>
      </p:sp>
      <p:sp>
        <p:nvSpPr>
          <p:cNvPr id="3" name="Page tag"/>
          <p:cNvSpPr/>
          <p:nvPr>
            <p:ph idx="101" type="body" hasCustomPrompt="1"/>
          </p:nvPr>
        </p:nvSpPr>
        <p:spPr>
          <a:xfrm>
            <a:off x="7823200" y="812800"/>
            <a:ext cx="3556000" cy="1968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spcBef>
                <a:spcPts val="1"/>
              </a:spcBef>
              <a:buNone/>
              <a:defRPr lang="en-US" sz="1200" spc="144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algn="r" indent="0" marL="0">
              <a:spcBef>
                <a:spcPts val="1"/>
              </a:spcBef>
              <a:buNone/>
            </a:pPr>
            <a:endParaRPr lang="en-US" sz="12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812800" y="1339850"/>
            <a:ext cx="10617200" cy="612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ts val="4620"/>
              </a:lnSpc>
              <a:buNone/>
              <a:defRPr lang="en-US" sz="4400" b="1" spc="-88" kern="0" dirty="0">
                <a:solidFill>
                  <a:schemeClr val="tx1"/>
                </a:solidFill>
              </a:defRPr>
            </a:lvl1pPr>
          </a:lstStyle>
          <a:p>
            <a:pPr algn="l" indent="0" marL="0">
              <a:lnSpc>
                <a:spcPts val="4620"/>
              </a:lnSpc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and image (light)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812800" y="812800"/>
            <a:ext cx="6096000" cy="1968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Bef>
                <a:spcPts val="1"/>
              </a:spcBef>
              <a:buNone/>
              <a:defRPr lang="en-US" sz="1200" spc="144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algn="l" indent="0" marL="0">
              <a:spcBef>
                <a:spcPts val="1"/>
              </a:spcBef>
              <a:buNone/>
            </a:pPr>
            <a:endParaRPr lang="en-US" sz="1200" dirty="0"/>
          </a:p>
        </p:txBody>
      </p:sp>
      <p:sp>
        <p:nvSpPr>
          <p:cNvPr id="3" name="Page tag"/>
          <p:cNvSpPr/>
          <p:nvPr>
            <p:ph idx="101" type="body" hasCustomPrompt="1"/>
          </p:nvPr>
        </p:nvSpPr>
        <p:spPr>
          <a:xfrm>
            <a:off x="7823200" y="812800"/>
            <a:ext cx="3556000" cy="1968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spcBef>
                <a:spcPts val="1"/>
              </a:spcBef>
              <a:buNone/>
              <a:defRPr lang="en-US" sz="1200" spc="144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algn="r" indent="0" marL="0">
              <a:spcBef>
                <a:spcPts val="1"/>
              </a:spcBef>
              <a:buNone/>
            </a:pPr>
            <a:endParaRPr lang="en-US" sz="12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812800" y="1238250"/>
            <a:ext cx="5249565" cy="1092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ts val="4200"/>
              </a:lnSpc>
              <a:buNone/>
              <a:defRPr lang="en-US" sz="4000" b="1" spc="-80" kern="0" dirty="0">
                <a:solidFill>
                  <a:schemeClr val="tx1"/>
                </a:solidFill>
              </a:defRPr>
            </a:lvl1pPr>
          </a:lstStyle>
          <a:p>
            <a:pPr algn="l" indent="0" marL="0">
              <a:lnSpc>
                <a:spcPts val="4200"/>
              </a:lnSpc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matrix (light)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812800" y="812800"/>
            <a:ext cx="6096000" cy="1968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Bef>
                <a:spcPts val="1"/>
              </a:spcBef>
              <a:buNone/>
              <a:defRPr lang="en-US" sz="1200" spc="144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algn="l" indent="0" marL="0">
              <a:spcBef>
                <a:spcPts val="1"/>
              </a:spcBef>
              <a:buNone/>
            </a:pPr>
            <a:endParaRPr lang="en-US" sz="1200" dirty="0"/>
          </a:p>
        </p:txBody>
      </p:sp>
      <p:sp>
        <p:nvSpPr>
          <p:cNvPr id="3" name="Page tag"/>
          <p:cNvSpPr/>
          <p:nvPr>
            <p:ph idx="101" type="body" hasCustomPrompt="1"/>
          </p:nvPr>
        </p:nvSpPr>
        <p:spPr>
          <a:xfrm>
            <a:off x="7823200" y="812800"/>
            <a:ext cx="3556000" cy="1968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spcBef>
                <a:spcPts val="1"/>
              </a:spcBef>
              <a:buNone/>
              <a:defRPr lang="en-US" sz="1200" spc="144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algn="r" indent="0" marL="0">
              <a:spcBef>
                <a:spcPts val="1"/>
              </a:spcBef>
              <a:buNone/>
            </a:pPr>
            <a:endParaRPr lang="en-US" sz="12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812800" y="1238250"/>
            <a:ext cx="10617200" cy="5054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ts val="3780"/>
              </a:lnSpc>
              <a:buNone/>
              <a:defRPr lang="en-US" sz="3600" b="1" spc="-72" kern="0" dirty="0">
                <a:solidFill>
                  <a:schemeClr val="tx1"/>
                </a:solidFill>
              </a:defRPr>
            </a:lvl1pPr>
          </a:lstStyle>
          <a:p>
            <a:pPr algn="l" indent="0" marL="0">
              <a:lnSpc>
                <a:spcPts val="3780"/>
              </a:lnSpc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(dark)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812800" y="812800"/>
            <a:ext cx="6096000" cy="1968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Bef>
                <a:spcPts val="1"/>
              </a:spcBef>
              <a:buNone/>
              <a:defRPr lang="en-US" sz="1200" spc="144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algn="l" indent="0" marL="0">
              <a:spcBef>
                <a:spcPts val="1"/>
              </a:spcBef>
              <a:buNone/>
            </a:pPr>
            <a:endParaRPr lang="en-US" sz="1200" dirty="0"/>
          </a:p>
        </p:txBody>
      </p:sp>
      <p:sp>
        <p:nvSpPr>
          <p:cNvPr id="3" name="Title"/>
          <p:cNvSpPr/>
          <p:nvPr>
            <p:ph idx="101" type="title" hasCustomPrompt="1"/>
          </p:nvPr>
        </p:nvSpPr>
        <p:spPr>
          <a:xfrm>
            <a:off x="812800" y="2746375"/>
            <a:ext cx="10617200" cy="8255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ts val="6300"/>
              </a:lnSpc>
              <a:buNone/>
              <a:defRPr lang="en-US" sz="6000" b="1" spc="-180" kern="0" dirty="0">
                <a:solidFill>
                  <a:schemeClr val="bg2"/>
                </a:solidFill>
              </a:defRPr>
            </a:lvl1pPr>
          </a:lstStyle>
          <a:p>
            <a:pPr algn="l" indent="0" marL="0">
              <a:lnSpc>
                <a:spcPts val="6300"/>
              </a:lnSpc>
              <a:buNone/>
            </a:pPr>
            <a:endParaRPr lang="en-US" sz="6000" dirty="0"/>
          </a:p>
        </p:txBody>
      </p:sp>
      <p:sp>
        <p:nvSpPr>
          <p:cNvPr id="4" name="Footer"/>
          <p:cNvSpPr txBox="1"/>
          <p:nvPr/>
        </p:nvSpPr>
        <p:spPr>
          <a:xfrm>
            <a:off x="8839200" y="5848350"/>
            <a:ext cx="2540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ORBIT-AI</a:t>
            </a: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812800" y="812800"/>
            <a:ext cx="6096000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"/>
              </a:spcBef>
              <a:buNone/>
            </a:pPr>
            <a:r>
              <a:rPr lang="en-US" sz="1200" spc="144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VANTAGE · SPACE COMPUTE</a:t>
            </a:r>
            <a:endParaRPr lang="en-US" sz="1200" dirty="0"/>
          </a:p>
        </p:txBody>
      </p:sp>
      <p:sp>
        <p:nvSpPr>
          <p:cNvPr id="3" name="Title"/>
          <p:cNvSpPr/>
          <p:nvPr>
            <p:ph idx="101" type="title" hasCustomPrompt="1"/>
          </p:nvPr>
        </p:nvSpPr>
        <p:spPr>
          <a:xfrm>
            <a:off x="812800" y="2212380"/>
            <a:ext cx="51054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0"/>
              </a:lnSpc>
              <a:buNone/>
            </a:pPr>
            <a:r>
              <a:rPr lang="en-US" sz="8400" b="1" spc="-336" kern="0" dirty="0">
                <a:solidFill>
                  <a:schemeClr val="bg2"/>
                </a:solidFill>
              </a:rPr>
              <a:t>ORBIT-AI</a:t>
            </a:r>
            <a:endParaRPr lang="en-US" sz="8400" dirty="0"/>
          </a:p>
        </p:txBody>
      </p:sp>
      <p:sp>
        <p:nvSpPr>
          <p:cNvPr id="4" name="Text: An AI chip built for orbit."/>
          <p:cNvSpPr txBox="1"/>
          <p:nvPr/>
        </p:nvSpPr>
        <p:spPr>
          <a:xfrm>
            <a:off x="812800" y="3533180"/>
            <a:ext cx="51054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chemeClr val="bg2"/>
                </a:solidFill>
              </a:rPr>
              <a:t>An AI chip built for orbit.</a:t>
            </a:r>
            <a:endParaRPr lang="en-US" sz="2800" dirty="0"/>
          </a:p>
        </p:txBody>
      </p:sp>
      <p:sp>
        <p:nvSpPr>
          <p:cNvPr id="5" name="Text: It catches its own radiation errors befo"/>
          <p:cNvSpPr txBox="1"/>
          <p:nvPr/>
        </p:nvSpPr>
        <p:spPr>
          <a:xfrm>
            <a:off x="812800" y="4112220"/>
            <a:ext cx="51054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800" dirty="0">
                <a:solidFill>
                  <a:schemeClr val="accent2"/>
                </a:solidFill>
              </a:rPr>
              <a:t>It catches its own radiation errors before they become wrong answers.</a:t>
            </a:r>
            <a:endParaRPr lang="en-US" sz="1800" dirty="0"/>
          </a:p>
        </p:txBody>
      </p:sp>
      <p:pic>
        <p:nvPicPr>
          <p:cNvPr id="6" name="ORBIT-AI package render" descr="ORBIT-AI package ren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713409"/>
            <a:ext cx="5207000" cy="343118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812800" y="812800"/>
            <a:ext cx="6096000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"/>
              </a:spcBef>
              <a:buNone/>
            </a:pPr>
            <a:r>
              <a:rPr lang="en-US" sz="1200" spc="144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Page tag"/>
          <p:cNvSpPr/>
          <p:nvPr>
            <p:ph idx="101" type="body" hasCustomPrompt="1"/>
          </p:nvPr>
        </p:nvSpPr>
        <p:spPr>
          <a:xfrm>
            <a:off x="7823200" y="812800"/>
            <a:ext cx="3556000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1"/>
              </a:spcBef>
              <a:buNone/>
            </a:pPr>
            <a:r>
              <a:rPr lang="en-US" sz="1200" spc="144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ORBIT-AI · 02</a:t>
            </a:r>
            <a:endParaRPr lang="en-US" sz="12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812800" y="1339850"/>
            <a:ext cx="10617200" cy="6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400" b="1" spc="-88" kern="0" dirty="0">
                <a:solidFill>
                  <a:schemeClr val="tx1"/>
                </a:solidFill>
              </a:rPr>
              <a:t>Space breaks normal chips.</a:t>
            </a:r>
            <a:endParaRPr lang="en-US" sz="4400" dirty="0"/>
          </a:p>
        </p:txBody>
      </p:sp>
      <p:sp>
        <p:nvSpPr>
          <p:cNvPr id="5" name="Text: Satellites need AI on board, but orbit i"/>
          <p:cNvSpPr txBox="1"/>
          <p:nvPr/>
        </p:nvSpPr>
        <p:spPr>
          <a:xfrm>
            <a:off x="812800" y="2129730"/>
            <a:ext cx="8305800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chemeClr val="accent1"/>
                </a:solidFill>
              </a:rPr>
              <a:t>Satellites need AI on board, but orbit is hostile to the silicon that runs it.</a:t>
            </a:r>
            <a:endParaRPr lang="en-US" sz="1800" dirty="0"/>
          </a:p>
        </p:txBody>
      </p:sp>
      <p:sp>
        <p:nvSpPr>
          <p:cNvPr id="6" name="Card"/>
          <p:cNvSpPr/>
          <p:nvPr/>
        </p:nvSpPr>
        <p:spPr>
          <a:xfrm>
            <a:off x="815975" y="3644503"/>
            <a:ext cx="2482850" cy="2397522"/>
          </a:xfrm>
          <a:prstGeom prst="roundRect">
            <a:avLst>
              <a:gd name="adj" fmla="val 4105"/>
            </a:avLst>
          </a:prstGeom>
          <a:solidFill>
            <a:schemeClr val="accent5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7" name="Text: 01"/>
          <p:cNvSpPr txBox="1"/>
          <p:nvPr/>
        </p:nvSpPr>
        <p:spPr>
          <a:xfrm>
            <a:off x="1123950" y="3952478"/>
            <a:ext cx="1917700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: Radiation flips bits"/>
          <p:cNvSpPr txBox="1"/>
          <p:nvPr/>
        </p:nvSpPr>
        <p:spPr>
          <a:xfrm>
            <a:off x="1123950" y="4276328"/>
            <a:ext cx="19177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chemeClr val="tx1"/>
                </a:solidFill>
              </a:rPr>
              <a:t>Radiation flips bits</a:t>
            </a:r>
            <a:endParaRPr lang="en-US" sz="2000" dirty="0"/>
          </a:p>
        </p:txBody>
      </p:sp>
      <p:sp>
        <p:nvSpPr>
          <p:cNvPr id="9" name="Text: A single particle can silently change a "/>
          <p:cNvSpPr txBox="1"/>
          <p:nvPr/>
        </p:nvSpPr>
        <p:spPr>
          <a:xfrm>
            <a:off x="1123950" y="4987528"/>
            <a:ext cx="191770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chemeClr val="accent1"/>
                </a:solidFill>
              </a:rPr>
              <a:t>A single particle can silently change a result.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3508375" y="3644503"/>
            <a:ext cx="2482850" cy="2397522"/>
          </a:xfrm>
          <a:prstGeom prst="roundRect">
            <a:avLst>
              <a:gd name="adj" fmla="val 4105"/>
            </a:avLst>
          </a:prstGeom>
          <a:solidFill>
            <a:schemeClr val="accent5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11" name="Text: 02"/>
          <p:cNvSpPr txBox="1"/>
          <p:nvPr/>
        </p:nvSpPr>
        <p:spPr>
          <a:xfrm>
            <a:off x="3816350" y="3952478"/>
            <a:ext cx="1917700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: No repair visits"/>
          <p:cNvSpPr txBox="1"/>
          <p:nvPr/>
        </p:nvSpPr>
        <p:spPr>
          <a:xfrm>
            <a:off x="3816350" y="4276328"/>
            <a:ext cx="19177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chemeClr val="tx1"/>
                </a:solidFill>
              </a:rPr>
              <a:t>No repair visits</a:t>
            </a:r>
            <a:endParaRPr lang="en-US" sz="2000" dirty="0"/>
          </a:p>
        </p:txBody>
      </p:sp>
      <p:sp>
        <p:nvSpPr>
          <p:cNvPr id="13" name="Text: Whatever launches has to fix itself."/>
          <p:cNvSpPr txBox="1"/>
          <p:nvPr/>
        </p:nvSpPr>
        <p:spPr>
          <a:xfrm>
            <a:off x="3816350" y="4695428"/>
            <a:ext cx="191770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chemeClr val="accent1"/>
                </a:solidFill>
              </a:rPr>
              <a:t>Whatever launches has to fix itself.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6200775" y="3644503"/>
            <a:ext cx="2482850" cy="2397522"/>
          </a:xfrm>
          <a:prstGeom prst="roundRect">
            <a:avLst>
              <a:gd name="adj" fmla="val 4105"/>
            </a:avLst>
          </a:prstGeom>
          <a:solidFill>
            <a:schemeClr val="accent5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15" name="Text: 03"/>
          <p:cNvSpPr txBox="1"/>
          <p:nvPr/>
        </p:nvSpPr>
        <p:spPr>
          <a:xfrm>
            <a:off x="6508750" y="3952478"/>
            <a:ext cx="1917700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: Heat only radiates"/>
          <p:cNvSpPr txBox="1"/>
          <p:nvPr/>
        </p:nvSpPr>
        <p:spPr>
          <a:xfrm>
            <a:off x="6508750" y="4276328"/>
            <a:ext cx="19177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chemeClr val="tx1"/>
                </a:solidFill>
              </a:rPr>
              <a:t>Heat only radiates</a:t>
            </a:r>
            <a:endParaRPr lang="en-US" sz="2000" dirty="0"/>
          </a:p>
        </p:txBody>
      </p:sp>
      <p:sp>
        <p:nvSpPr>
          <p:cNvPr id="17" name="Text: No air to cool. Hot spots must be manage"/>
          <p:cNvSpPr txBox="1"/>
          <p:nvPr/>
        </p:nvSpPr>
        <p:spPr>
          <a:xfrm>
            <a:off x="6508750" y="4987528"/>
            <a:ext cx="1884846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chemeClr val="accent1"/>
                </a:solidFill>
              </a:rPr>
              <a:t>No air to cool. Hot spots must be managed.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8893175" y="3644503"/>
            <a:ext cx="2482850" cy="2397522"/>
          </a:xfrm>
          <a:prstGeom prst="roundRect">
            <a:avLst>
              <a:gd name="adj" fmla="val 4105"/>
            </a:avLst>
          </a:prstGeom>
          <a:solidFill>
            <a:schemeClr val="accent5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19" name="Text: 04"/>
          <p:cNvSpPr txBox="1"/>
          <p:nvPr/>
        </p:nvSpPr>
        <p:spPr>
          <a:xfrm>
            <a:off x="9201150" y="3952478"/>
            <a:ext cx="1917700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: Power is scarce"/>
          <p:cNvSpPr txBox="1"/>
          <p:nvPr/>
        </p:nvSpPr>
        <p:spPr>
          <a:xfrm>
            <a:off x="9201150" y="4276328"/>
            <a:ext cx="190770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chemeClr val="tx1"/>
                </a:solidFill>
              </a:rPr>
              <a:t>Power is scarce</a:t>
            </a:r>
            <a:endParaRPr lang="en-US" sz="2000" dirty="0"/>
          </a:p>
        </p:txBody>
      </p:sp>
      <p:sp>
        <p:nvSpPr>
          <p:cNvPr id="21" name="Text: Every watt comes from the solar array."/>
          <p:cNvSpPr txBox="1"/>
          <p:nvPr/>
        </p:nvSpPr>
        <p:spPr>
          <a:xfrm>
            <a:off x="9201150" y="4987528"/>
            <a:ext cx="191770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chemeClr val="accent1"/>
                </a:solidFill>
              </a:rPr>
              <a:t>Every watt comes from the solar array.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812800" y="812800"/>
            <a:ext cx="6096000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"/>
              </a:spcBef>
              <a:buNone/>
            </a:pPr>
            <a:r>
              <a:rPr lang="en-US" sz="1200" spc="144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CHIP</a:t>
            </a:r>
            <a:endParaRPr lang="en-US" sz="1200" dirty="0"/>
          </a:p>
        </p:txBody>
      </p:sp>
      <p:sp>
        <p:nvSpPr>
          <p:cNvPr id="3" name="Page tag"/>
          <p:cNvSpPr/>
          <p:nvPr>
            <p:ph idx="101" type="body" hasCustomPrompt="1"/>
          </p:nvPr>
        </p:nvSpPr>
        <p:spPr>
          <a:xfrm>
            <a:off x="7823200" y="812800"/>
            <a:ext cx="3556000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1"/>
              </a:spcBef>
              <a:buNone/>
            </a:pPr>
            <a:r>
              <a:rPr lang="en-US" sz="1200" spc="144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ORBIT-AI · 03</a:t>
            </a:r>
            <a:endParaRPr lang="en-US" sz="12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812800" y="1339850"/>
            <a:ext cx="10617200" cy="6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400" b="1" spc="-88" kern="0" dirty="0">
                <a:solidFill>
                  <a:schemeClr val="bg2"/>
                </a:solidFill>
              </a:rPr>
              <a:t>Built, laid out, and tested.</a:t>
            </a:r>
            <a:endParaRPr lang="en-US" sz="4400" dirty="0"/>
          </a:p>
        </p:txBody>
      </p:sp>
      <p:sp>
        <p:nvSpPr>
          <p:cNvPr id="5" name="Text: A 4-lane INT8 AI demonstrator taken from"/>
          <p:cNvSpPr txBox="1"/>
          <p:nvPr/>
        </p:nvSpPr>
        <p:spPr>
          <a:xfrm>
            <a:off x="812800" y="2759075"/>
            <a:ext cx="5257800" cy="951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chemeClr val="accent2"/>
                </a:solidFill>
              </a:rPr>
              <a:t>A 4-lane INT8 AI demonstrator taken from RTL to a sign-off-clean layout with open-source tools on the SkyWater 130 nm process.</a:t>
            </a:r>
            <a:endParaRPr lang="en-US" sz="1800" dirty="0"/>
          </a:p>
        </p:txBody>
      </p:sp>
      <p:pic>
        <p:nvPicPr>
          <p:cNvPr id="6" name="Metal layers of the routed die" descr="Metal layers of the routed di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6468" y="2078930"/>
            <a:ext cx="4872732" cy="2286000"/>
          </a:xfrm>
          <a:prstGeom prst="rect">
            <a:avLst/>
          </a:prstGeom>
        </p:spPr>
      </p:pic>
      <p:sp>
        <p:nvSpPr>
          <p:cNvPr id="7" name="Rule"/>
          <p:cNvSpPr/>
          <p:nvPr/>
        </p:nvSpPr>
        <p:spPr>
          <a:xfrm>
            <a:off x="812800" y="4864100"/>
            <a:ext cx="2311499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: 346 µm"/>
          <p:cNvSpPr txBox="1"/>
          <p:nvPr/>
        </p:nvSpPr>
        <p:spPr>
          <a:xfrm>
            <a:off x="812800" y="5073650"/>
            <a:ext cx="2362299" cy="673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00" b="1" spc="-132" kern="0" dirty="0">
                <a:solidFill>
                  <a:schemeClr val="bg2"/>
                </a:solidFill>
              </a:rPr>
              <a:t>346 µm</a:t>
            </a:r>
            <a:endParaRPr lang="en-US" sz="4400" dirty="0"/>
          </a:p>
        </p:txBody>
      </p:sp>
      <p:sp>
        <p:nvSpPr>
          <p:cNvPr id="9" name="Text: die edge"/>
          <p:cNvSpPr txBox="1"/>
          <p:nvPr/>
        </p:nvSpPr>
        <p:spPr>
          <a:xfrm>
            <a:off x="812800" y="5797550"/>
            <a:ext cx="236229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chemeClr val="accent2"/>
                </a:solidFill>
              </a:rPr>
              <a:t>die edge</a:t>
            </a:r>
            <a:endParaRPr lang="en-US" sz="1500" dirty="0"/>
          </a:p>
        </p:txBody>
      </p:sp>
      <p:sp>
        <p:nvSpPr>
          <p:cNvPr id="10" name="Rule"/>
          <p:cNvSpPr/>
          <p:nvPr/>
        </p:nvSpPr>
        <p:spPr>
          <a:xfrm>
            <a:off x="3530699" y="4864100"/>
            <a:ext cx="2311499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: 139 MHz"/>
          <p:cNvSpPr txBox="1"/>
          <p:nvPr/>
        </p:nvSpPr>
        <p:spPr>
          <a:xfrm>
            <a:off x="3530699" y="5073650"/>
            <a:ext cx="2362299" cy="673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00" b="1" spc="-132" kern="0" dirty="0">
                <a:solidFill>
                  <a:schemeClr val="bg2"/>
                </a:solidFill>
              </a:rPr>
              <a:t>139 MHz</a:t>
            </a:r>
            <a:endParaRPr lang="en-US" sz="4400" dirty="0"/>
          </a:p>
        </p:txBody>
      </p:sp>
      <p:sp>
        <p:nvSpPr>
          <p:cNvPr id="12" name="Text: clock, timing met"/>
          <p:cNvSpPr txBox="1"/>
          <p:nvPr/>
        </p:nvSpPr>
        <p:spPr>
          <a:xfrm>
            <a:off x="3530699" y="5797550"/>
            <a:ext cx="236229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chemeClr val="accent2"/>
                </a:solidFill>
              </a:rPr>
              <a:t>clock, timing met</a:t>
            </a:r>
            <a:endParaRPr lang="en-US" sz="1500" dirty="0"/>
          </a:p>
        </p:txBody>
      </p:sp>
      <p:sp>
        <p:nvSpPr>
          <p:cNvPr id="13" name="Rule"/>
          <p:cNvSpPr/>
          <p:nvPr/>
        </p:nvSpPr>
        <p:spPr>
          <a:xfrm>
            <a:off x="6248598" y="4864100"/>
            <a:ext cx="2412702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: 1.1 GOPS"/>
          <p:cNvSpPr txBox="1"/>
          <p:nvPr/>
        </p:nvSpPr>
        <p:spPr>
          <a:xfrm>
            <a:off x="6248598" y="5073650"/>
            <a:ext cx="2463502" cy="673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00" b="1" spc="-132" kern="0" dirty="0">
                <a:solidFill>
                  <a:schemeClr val="bg2"/>
                </a:solidFill>
              </a:rPr>
              <a:t>1.1 GOPS</a:t>
            </a:r>
            <a:endParaRPr lang="en-US" sz="4400" dirty="0"/>
          </a:p>
        </p:txBody>
      </p:sp>
      <p:sp>
        <p:nvSpPr>
          <p:cNvPr id="15" name="Text: INT8 throughput"/>
          <p:cNvSpPr txBox="1"/>
          <p:nvPr/>
        </p:nvSpPr>
        <p:spPr>
          <a:xfrm>
            <a:off x="6248598" y="5797550"/>
            <a:ext cx="246350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chemeClr val="accent2"/>
                </a:solidFill>
              </a:rPr>
              <a:t>INT8 throughput</a:t>
            </a:r>
            <a:endParaRPr lang="en-US" sz="1500" dirty="0"/>
          </a:p>
        </p:txBody>
      </p:sp>
      <p:sp>
        <p:nvSpPr>
          <p:cNvPr id="16" name="Rule"/>
          <p:cNvSpPr/>
          <p:nvPr/>
        </p:nvSpPr>
        <p:spPr>
          <a:xfrm>
            <a:off x="9067701" y="4864100"/>
            <a:ext cx="2311499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: 4"/>
          <p:cNvSpPr txBox="1"/>
          <p:nvPr/>
        </p:nvSpPr>
        <p:spPr>
          <a:xfrm>
            <a:off x="9067701" y="5073650"/>
            <a:ext cx="2362299" cy="673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00" b="1" spc="-132" kern="0" dirty="0">
                <a:solidFill>
                  <a:schemeClr val="bg2"/>
                </a:solidFill>
              </a:rPr>
              <a:t>4</a:t>
            </a:r>
            <a:endParaRPr lang="en-US" sz="4400" dirty="0"/>
          </a:p>
        </p:txBody>
      </p:sp>
      <p:sp>
        <p:nvSpPr>
          <p:cNvPr id="18" name="Text: AI lanes, fully protected"/>
          <p:cNvSpPr txBox="1"/>
          <p:nvPr/>
        </p:nvSpPr>
        <p:spPr>
          <a:xfrm>
            <a:off x="9067701" y="5797550"/>
            <a:ext cx="236229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chemeClr val="accent2"/>
                </a:solidFill>
              </a:rPr>
              <a:t>AI lanes, fully protected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812800" y="812800"/>
            <a:ext cx="6096000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"/>
              </a:spcBef>
              <a:buNone/>
            </a:pPr>
            <a:r>
              <a:rPr lang="en-US" sz="1200" spc="144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PROTECTS ITSELF</a:t>
            </a:r>
            <a:endParaRPr lang="en-US" sz="1200" dirty="0"/>
          </a:p>
        </p:txBody>
      </p:sp>
      <p:sp>
        <p:nvSpPr>
          <p:cNvPr id="3" name="Page tag"/>
          <p:cNvSpPr/>
          <p:nvPr>
            <p:ph idx="101" type="body" hasCustomPrompt="1"/>
          </p:nvPr>
        </p:nvSpPr>
        <p:spPr>
          <a:xfrm>
            <a:off x="7823200" y="812800"/>
            <a:ext cx="3556000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1"/>
              </a:spcBef>
              <a:buNone/>
            </a:pPr>
            <a:r>
              <a:rPr lang="en-US" sz="1200" spc="144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ORBIT-AI · 04</a:t>
            </a:r>
            <a:endParaRPr lang="en-US" sz="12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812800" y="1339850"/>
            <a:ext cx="10617200" cy="6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400" b="1" spc="-88" kern="0" dirty="0">
                <a:solidFill>
                  <a:schemeClr val="tx1"/>
                </a:solidFill>
              </a:rPr>
              <a:t>Every result is checked twice.</a:t>
            </a:r>
            <a:endParaRPr lang="en-US" sz="4400" dirty="0"/>
          </a:p>
        </p:txBody>
      </p:sp>
      <p:sp>
        <p:nvSpPr>
          <p:cNvPr id="5" name="Card"/>
          <p:cNvSpPr/>
          <p:nvPr/>
        </p:nvSpPr>
        <p:spPr>
          <a:xfrm>
            <a:off x="815975" y="3936603"/>
            <a:ext cx="2482850" cy="2105422"/>
          </a:xfrm>
          <a:prstGeom prst="roundRect">
            <a:avLst>
              <a:gd name="adj" fmla="val 4675"/>
            </a:avLst>
          </a:prstGeom>
          <a:solidFill>
            <a:schemeClr val="accent5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6" name="Text: 01"/>
          <p:cNvSpPr txBox="1"/>
          <p:nvPr/>
        </p:nvSpPr>
        <p:spPr>
          <a:xfrm>
            <a:off x="1123950" y="4244578"/>
            <a:ext cx="1917700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: Twin copies"/>
          <p:cNvSpPr txBox="1"/>
          <p:nvPr/>
        </p:nvSpPr>
        <p:spPr>
          <a:xfrm>
            <a:off x="1123950" y="4568428"/>
            <a:ext cx="19177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chemeClr val="tx1"/>
                </a:solidFill>
              </a:rPr>
              <a:t>Twin copies</a:t>
            </a:r>
            <a:endParaRPr lang="en-US" sz="2000" dirty="0"/>
          </a:p>
        </p:txBody>
      </p:sp>
      <p:sp>
        <p:nvSpPr>
          <p:cNvPr id="8" name="Text: Each lane runs on two copies of the hard"/>
          <p:cNvSpPr txBox="1"/>
          <p:nvPr/>
        </p:nvSpPr>
        <p:spPr>
          <a:xfrm>
            <a:off x="1123950" y="4987528"/>
            <a:ext cx="191770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chemeClr val="accent1"/>
                </a:solidFill>
              </a:rPr>
              <a:t>Each lane runs on two copies of the hardware.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3508375" y="3936603"/>
            <a:ext cx="2482850" cy="2105422"/>
          </a:xfrm>
          <a:prstGeom prst="roundRect">
            <a:avLst>
              <a:gd name="adj" fmla="val 4675"/>
            </a:avLst>
          </a:prstGeom>
          <a:solidFill>
            <a:schemeClr val="accent5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10" name="Text: 02"/>
          <p:cNvSpPr txBox="1"/>
          <p:nvPr/>
        </p:nvSpPr>
        <p:spPr>
          <a:xfrm>
            <a:off x="3816350" y="4244578"/>
            <a:ext cx="1917700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: Compare"/>
          <p:cNvSpPr txBox="1"/>
          <p:nvPr/>
        </p:nvSpPr>
        <p:spPr>
          <a:xfrm>
            <a:off x="3816350" y="4568428"/>
            <a:ext cx="19177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chemeClr val="tx1"/>
                </a:solidFill>
              </a:rPr>
              <a:t>Compare</a:t>
            </a:r>
            <a:endParaRPr lang="en-US" sz="2000" dirty="0"/>
          </a:p>
        </p:txBody>
      </p:sp>
      <p:sp>
        <p:nvSpPr>
          <p:cNvPr id="12" name="Text: The copies are compared every cycle."/>
          <p:cNvSpPr txBox="1"/>
          <p:nvPr/>
        </p:nvSpPr>
        <p:spPr>
          <a:xfrm>
            <a:off x="3816350" y="4987528"/>
            <a:ext cx="191770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chemeClr val="accent1"/>
                </a:solidFill>
              </a:rPr>
              <a:t>The copies are compared every cycle.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6200775" y="3936603"/>
            <a:ext cx="2482850" cy="2105422"/>
          </a:xfrm>
          <a:prstGeom prst="roundRect">
            <a:avLst>
              <a:gd name="adj" fmla="val 4675"/>
            </a:avLst>
          </a:prstGeom>
          <a:solidFill>
            <a:schemeClr val="accent5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14" name="Text: 03"/>
          <p:cNvSpPr txBox="1"/>
          <p:nvPr/>
        </p:nvSpPr>
        <p:spPr>
          <a:xfrm>
            <a:off x="6508750" y="4244578"/>
            <a:ext cx="1917700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: Fault-stop"/>
          <p:cNvSpPr txBox="1"/>
          <p:nvPr/>
        </p:nvSpPr>
        <p:spPr>
          <a:xfrm>
            <a:off x="6508750" y="4568428"/>
            <a:ext cx="19177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chemeClr val="tx1"/>
                </a:solidFill>
              </a:rPr>
              <a:t>Fault-stop</a:t>
            </a:r>
            <a:endParaRPr lang="en-US" sz="2000" dirty="0"/>
          </a:p>
        </p:txBody>
      </p:sp>
      <p:sp>
        <p:nvSpPr>
          <p:cNvPr id="16" name="Text: A mismatch stops the output. No wrong an"/>
          <p:cNvSpPr txBox="1"/>
          <p:nvPr/>
        </p:nvSpPr>
        <p:spPr>
          <a:xfrm>
            <a:off x="6508750" y="4987528"/>
            <a:ext cx="1917700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chemeClr val="accent1"/>
                </a:solidFill>
              </a:rPr>
              <a:t>A mismatch stops the output. No wrong answer leaves.</a:t>
            </a:r>
            <a:endParaRPr lang="en-US" sz="1400" dirty="0"/>
          </a:p>
        </p:txBody>
      </p:sp>
      <p:sp>
        <p:nvSpPr>
          <p:cNvPr id="17" name="Card"/>
          <p:cNvSpPr/>
          <p:nvPr/>
        </p:nvSpPr>
        <p:spPr>
          <a:xfrm>
            <a:off x="8893175" y="3936603"/>
            <a:ext cx="2482850" cy="2105422"/>
          </a:xfrm>
          <a:prstGeom prst="roundRect">
            <a:avLst>
              <a:gd name="adj" fmla="val 4675"/>
            </a:avLst>
          </a:prstGeom>
          <a:solidFill>
            <a:schemeClr val="accent5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18" name="Text: 04"/>
          <p:cNvSpPr txBox="1"/>
          <p:nvPr/>
        </p:nvSpPr>
        <p:spPr>
          <a:xfrm>
            <a:off x="9201150" y="4244578"/>
            <a:ext cx="1917700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: Triple vote"/>
          <p:cNvSpPr txBox="1"/>
          <p:nvPr/>
        </p:nvSpPr>
        <p:spPr>
          <a:xfrm>
            <a:off x="9201150" y="4568428"/>
            <a:ext cx="19177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chemeClr val="tx1"/>
                </a:solidFill>
              </a:rPr>
              <a:t>Triple vote</a:t>
            </a:r>
            <a:endParaRPr lang="en-US" sz="2000" dirty="0"/>
          </a:p>
        </p:txBody>
      </p:sp>
      <p:sp>
        <p:nvSpPr>
          <p:cNvPr id="20" name="Text: Thermal control runs in triplicate and v"/>
          <p:cNvSpPr txBox="1"/>
          <p:nvPr/>
        </p:nvSpPr>
        <p:spPr>
          <a:xfrm>
            <a:off x="9201150" y="4987528"/>
            <a:ext cx="1917700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chemeClr val="accent1"/>
                </a:solidFill>
              </a:rPr>
              <a:t>Thermal control runs in triplicate and votes 2 of 3.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812800" y="812800"/>
            <a:ext cx="6096000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"/>
              </a:spcBef>
              <a:buNone/>
            </a:pPr>
            <a:r>
              <a:rPr lang="en-US" sz="1200" spc="144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FAULT INJECTION</a:t>
            </a:r>
            <a:endParaRPr lang="en-US" sz="1200" dirty="0"/>
          </a:p>
        </p:txBody>
      </p:sp>
      <p:sp>
        <p:nvSpPr>
          <p:cNvPr id="3" name="Page tag"/>
          <p:cNvSpPr/>
          <p:nvPr>
            <p:ph idx="101" type="body" hasCustomPrompt="1"/>
          </p:nvPr>
        </p:nvSpPr>
        <p:spPr>
          <a:xfrm>
            <a:off x="7823200" y="812800"/>
            <a:ext cx="3556000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1"/>
              </a:spcBef>
              <a:buNone/>
            </a:pPr>
            <a:r>
              <a:rPr lang="en-US" sz="1200" spc="144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ORBIT-AI · 05</a:t>
            </a:r>
            <a:endParaRPr lang="en-US" sz="12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812800" y="1339850"/>
            <a:ext cx="10617200" cy="6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400" b="1" spc="-88" kern="0" dirty="0">
                <a:solidFill>
                  <a:schemeClr val="bg2"/>
                </a:solidFill>
              </a:rPr>
              <a:t>936 bit flips. Zero wrong answers.</a:t>
            </a:r>
            <a:endParaRPr lang="en-US" sz="4400" dirty="0"/>
          </a:p>
        </p:txBody>
      </p:sp>
      <p:sp>
        <p:nvSpPr>
          <p:cNvPr id="5" name="Text: Flips injected into the gate-level netli"/>
          <p:cNvSpPr txBox="1"/>
          <p:nvPr/>
        </p:nvSpPr>
        <p:spPr>
          <a:xfrm>
            <a:off x="812800" y="2129730"/>
            <a:ext cx="8259477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chemeClr val="accent2"/>
                </a:solidFill>
              </a:rPr>
              <a:t>Flips injected into the gate-level netlist over 30,000 cycles. Every one was caught.</a:t>
            </a:r>
            <a:endParaRPr lang="en-US" sz="1800" dirty="0"/>
          </a:p>
        </p:txBody>
      </p:sp>
      <p:sp>
        <p:nvSpPr>
          <p:cNvPr id="6" name="Rule"/>
          <p:cNvSpPr/>
          <p:nvPr/>
        </p:nvSpPr>
        <p:spPr>
          <a:xfrm>
            <a:off x="812800" y="4864100"/>
            <a:ext cx="2336800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: 936 / 936"/>
          <p:cNvSpPr txBox="1"/>
          <p:nvPr/>
        </p:nvSpPr>
        <p:spPr>
          <a:xfrm>
            <a:off x="812800" y="5073650"/>
            <a:ext cx="2387600" cy="673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00" b="1" spc="-132" kern="0" dirty="0">
                <a:solidFill>
                  <a:schemeClr val="bg2"/>
                </a:solidFill>
              </a:rPr>
              <a:t>936 / 936</a:t>
            </a:r>
            <a:endParaRPr lang="en-US" sz="4400" dirty="0"/>
          </a:p>
        </p:txBody>
      </p:sp>
      <p:sp>
        <p:nvSpPr>
          <p:cNvPr id="8" name="Text: flips stopped or repaired"/>
          <p:cNvSpPr txBox="1"/>
          <p:nvPr/>
        </p:nvSpPr>
        <p:spPr>
          <a:xfrm>
            <a:off x="812800" y="5797550"/>
            <a:ext cx="23876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chemeClr val="accent2"/>
                </a:solidFill>
              </a:rPr>
              <a:t>flips stopped or repaired</a:t>
            </a:r>
            <a:endParaRPr lang="en-US" sz="1500" dirty="0"/>
          </a:p>
        </p:txBody>
      </p:sp>
      <p:sp>
        <p:nvSpPr>
          <p:cNvPr id="9" name="Rule"/>
          <p:cNvSpPr/>
          <p:nvPr/>
        </p:nvSpPr>
        <p:spPr>
          <a:xfrm>
            <a:off x="3556000" y="4864100"/>
            <a:ext cx="2336800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: 702"/>
          <p:cNvSpPr txBox="1"/>
          <p:nvPr/>
        </p:nvSpPr>
        <p:spPr>
          <a:xfrm>
            <a:off x="3556000" y="5073650"/>
            <a:ext cx="2387600" cy="673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00" b="1" spc="-132" kern="0" dirty="0">
                <a:solidFill>
                  <a:schemeClr val="bg2"/>
                </a:solidFill>
              </a:rPr>
              <a:t>702</a:t>
            </a:r>
            <a:endParaRPr lang="en-US" sz="4400" dirty="0"/>
          </a:p>
        </p:txBody>
      </p:sp>
      <p:sp>
        <p:nvSpPr>
          <p:cNvPr id="11" name="Text: caught by fault-stop"/>
          <p:cNvSpPr txBox="1"/>
          <p:nvPr/>
        </p:nvSpPr>
        <p:spPr>
          <a:xfrm>
            <a:off x="3556000" y="5797550"/>
            <a:ext cx="23876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chemeClr val="accent2"/>
                </a:solidFill>
              </a:rPr>
              <a:t>caught by fault-stop</a:t>
            </a:r>
            <a:endParaRPr lang="en-US" sz="1500" dirty="0"/>
          </a:p>
        </p:txBody>
      </p:sp>
      <p:sp>
        <p:nvSpPr>
          <p:cNvPr id="12" name="Rule"/>
          <p:cNvSpPr/>
          <p:nvPr/>
        </p:nvSpPr>
        <p:spPr>
          <a:xfrm>
            <a:off x="6299200" y="4864100"/>
            <a:ext cx="2336800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: 234"/>
          <p:cNvSpPr txBox="1"/>
          <p:nvPr/>
        </p:nvSpPr>
        <p:spPr>
          <a:xfrm>
            <a:off x="6299200" y="5073650"/>
            <a:ext cx="2387600" cy="673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00" b="1" spc="-132" kern="0" dirty="0">
                <a:solidFill>
                  <a:schemeClr val="bg2"/>
                </a:solidFill>
              </a:rPr>
              <a:t>234</a:t>
            </a:r>
            <a:endParaRPr lang="en-US" sz="4400" dirty="0"/>
          </a:p>
        </p:txBody>
      </p:sp>
      <p:sp>
        <p:nvSpPr>
          <p:cNvPr id="14" name="Text: repaired by voting"/>
          <p:cNvSpPr txBox="1"/>
          <p:nvPr/>
        </p:nvSpPr>
        <p:spPr>
          <a:xfrm>
            <a:off x="6299200" y="5797550"/>
            <a:ext cx="23876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chemeClr val="accent2"/>
                </a:solidFill>
              </a:rPr>
              <a:t>repaired by voting</a:t>
            </a:r>
            <a:endParaRPr lang="en-US" sz="1500" dirty="0"/>
          </a:p>
        </p:txBody>
      </p:sp>
      <p:sp>
        <p:nvSpPr>
          <p:cNvPr id="15" name="Rule"/>
          <p:cNvSpPr/>
          <p:nvPr/>
        </p:nvSpPr>
        <p:spPr>
          <a:xfrm>
            <a:off x="9042400" y="4864100"/>
            <a:ext cx="2336800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: 0"/>
          <p:cNvSpPr txBox="1"/>
          <p:nvPr/>
        </p:nvSpPr>
        <p:spPr>
          <a:xfrm>
            <a:off x="9042400" y="5073650"/>
            <a:ext cx="2387600" cy="673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00" b="1" spc="-132" kern="0" dirty="0">
                <a:solidFill>
                  <a:schemeClr val="bg2"/>
                </a:solidFill>
              </a:rPr>
              <a:t>0</a:t>
            </a:r>
            <a:endParaRPr lang="en-US" sz="4400" dirty="0"/>
          </a:p>
        </p:txBody>
      </p:sp>
      <p:sp>
        <p:nvSpPr>
          <p:cNvPr id="17" name="Text: wrong results out"/>
          <p:cNvSpPr txBox="1"/>
          <p:nvPr/>
        </p:nvSpPr>
        <p:spPr>
          <a:xfrm>
            <a:off x="9042400" y="5797550"/>
            <a:ext cx="23876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chemeClr val="accent2"/>
                </a:solidFill>
              </a:rPr>
              <a:t>wrong results out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812800" y="812800"/>
            <a:ext cx="6096000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"/>
              </a:spcBef>
              <a:buNone/>
            </a:pPr>
            <a:r>
              <a:rPr lang="en-US" sz="1200" spc="144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PHYSICAL LAYOUT</a:t>
            </a:r>
            <a:endParaRPr lang="en-US" sz="1200" dirty="0"/>
          </a:p>
        </p:txBody>
      </p:sp>
      <p:sp>
        <p:nvSpPr>
          <p:cNvPr id="3" name="Page tag"/>
          <p:cNvSpPr/>
          <p:nvPr>
            <p:ph idx="101" type="body" hasCustomPrompt="1"/>
          </p:nvPr>
        </p:nvSpPr>
        <p:spPr>
          <a:xfrm>
            <a:off x="7823200" y="812800"/>
            <a:ext cx="3556000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1"/>
              </a:spcBef>
              <a:buNone/>
            </a:pPr>
            <a:r>
              <a:rPr lang="en-US" sz="1200" spc="144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ORBIT-AI · 06</a:t>
            </a:r>
            <a:endParaRPr lang="en-US" sz="12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812800" y="1238250"/>
            <a:ext cx="5249565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000" b="1" spc="-80" kern="0" dirty="0">
                <a:solidFill>
                  <a:schemeClr val="tx1"/>
                </a:solidFill>
              </a:rPr>
              <a:t>One particle can't hit both copies.</a:t>
            </a:r>
            <a:endParaRPr lang="en-US" sz="4000" dirty="0"/>
          </a:p>
        </p:txBody>
      </p:sp>
      <p:sp>
        <p:nvSpPr>
          <p:cNvPr id="5" name="Text: The twin copies sit in fenced regions on"/>
          <p:cNvSpPr txBox="1"/>
          <p:nvPr/>
        </p:nvSpPr>
        <p:spPr>
          <a:xfrm>
            <a:off x="812800" y="2457450"/>
            <a:ext cx="5249565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chemeClr val="accent1"/>
                </a:solidFill>
              </a:rPr>
              <a:t>The twin copies sit in fenced regions on opposite sides of the die, so a single strike cannot corrupt both.</a:t>
            </a:r>
            <a:endParaRPr lang="en-US" sz="1600" dirty="0"/>
          </a:p>
        </p:txBody>
      </p:sp>
      <p:sp>
        <p:nvSpPr>
          <p:cNvPr id="6" name="Rule"/>
          <p:cNvSpPr/>
          <p:nvPr/>
        </p:nvSpPr>
        <p:spPr>
          <a:xfrm>
            <a:off x="812800" y="3968750"/>
            <a:ext cx="2446933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: ≥ 251 µm"/>
          <p:cNvSpPr txBox="1"/>
          <p:nvPr/>
        </p:nvSpPr>
        <p:spPr>
          <a:xfrm>
            <a:off x="812800" y="4127500"/>
            <a:ext cx="2497733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spc="-108" kern="0" dirty="0">
                <a:solidFill>
                  <a:schemeClr val="tx1"/>
                </a:solidFill>
              </a:rPr>
              <a:t>≥ 251 µm</a:t>
            </a:r>
            <a:endParaRPr lang="en-US" sz="3600" dirty="0"/>
          </a:p>
        </p:txBody>
      </p:sp>
      <p:sp>
        <p:nvSpPr>
          <p:cNvPr id="8" name="Text: between twin copies"/>
          <p:cNvSpPr txBox="1"/>
          <p:nvPr/>
        </p:nvSpPr>
        <p:spPr>
          <a:xfrm>
            <a:off x="812800" y="4699000"/>
            <a:ext cx="24977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between twin copies</a:t>
            </a:r>
            <a:endParaRPr lang="en-US" sz="1400" dirty="0"/>
          </a:p>
        </p:txBody>
      </p:sp>
      <p:sp>
        <p:nvSpPr>
          <p:cNvPr id="9" name="Rule"/>
          <p:cNvSpPr/>
          <p:nvPr/>
        </p:nvSpPr>
        <p:spPr>
          <a:xfrm>
            <a:off x="3564533" y="3968750"/>
            <a:ext cx="2447032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: 242 µm"/>
          <p:cNvSpPr txBox="1"/>
          <p:nvPr/>
        </p:nvSpPr>
        <p:spPr>
          <a:xfrm>
            <a:off x="3564533" y="4127500"/>
            <a:ext cx="2497832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spc="-108" kern="0" dirty="0">
                <a:solidFill>
                  <a:schemeClr val="tx1"/>
                </a:solidFill>
              </a:rPr>
              <a:t>242 µm</a:t>
            </a:r>
            <a:endParaRPr lang="en-US" sz="3600" dirty="0"/>
          </a:p>
        </p:txBody>
      </p:sp>
      <p:sp>
        <p:nvSpPr>
          <p:cNvPr id="11" name="Text: gap between fences"/>
          <p:cNvSpPr txBox="1"/>
          <p:nvPr/>
        </p:nvSpPr>
        <p:spPr>
          <a:xfrm>
            <a:off x="3564533" y="4699000"/>
            <a:ext cx="2497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gap between fences</a:t>
            </a:r>
            <a:endParaRPr lang="en-US" sz="1400" dirty="0"/>
          </a:p>
        </p:txBody>
      </p:sp>
      <p:sp>
        <p:nvSpPr>
          <p:cNvPr id="12" name="Rule"/>
          <p:cNvSpPr/>
          <p:nvPr/>
        </p:nvSpPr>
        <p:spPr>
          <a:xfrm>
            <a:off x="812800" y="5111750"/>
            <a:ext cx="2446933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: 0 / 262"/>
          <p:cNvSpPr txBox="1"/>
          <p:nvPr/>
        </p:nvSpPr>
        <p:spPr>
          <a:xfrm>
            <a:off x="812800" y="5270500"/>
            <a:ext cx="2497733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spc="-108" kern="0" dirty="0">
                <a:solidFill>
                  <a:schemeClr val="tx1"/>
                </a:solidFill>
              </a:rPr>
              <a:t>0 / 262</a:t>
            </a:r>
            <a:endParaRPr lang="en-US" sz="3600" dirty="0"/>
          </a:p>
        </p:txBody>
      </p:sp>
      <p:sp>
        <p:nvSpPr>
          <p:cNvPr id="14" name="Text: same-bit pairs touching"/>
          <p:cNvSpPr txBox="1"/>
          <p:nvPr/>
        </p:nvSpPr>
        <p:spPr>
          <a:xfrm>
            <a:off x="812800" y="5842000"/>
            <a:ext cx="24977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same-bit pairs touching</a:t>
            </a:r>
            <a:endParaRPr lang="en-US" sz="1400" dirty="0"/>
          </a:p>
        </p:txBody>
      </p:sp>
      <p:sp>
        <p:nvSpPr>
          <p:cNvPr id="15" name="Rule"/>
          <p:cNvSpPr/>
          <p:nvPr/>
        </p:nvSpPr>
        <p:spPr>
          <a:xfrm>
            <a:off x="3564533" y="5111750"/>
            <a:ext cx="2447032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: 13 → 0"/>
          <p:cNvSpPr txBox="1"/>
          <p:nvPr/>
        </p:nvSpPr>
        <p:spPr>
          <a:xfrm>
            <a:off x="3564533" y="5270500"/>
            <a:ext cx="2497832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spc="-108" kern="0" dirty="0">
                <a:solidFill>
                  <a:schemeClr val="tx1"/>
                </a:solidFill>
              </a:rPr>
              <a:t>13 → 0</a:t>
            </a:r>
            <a:endParaRPr lang="en-US" sz="3600" dirty="0"/>
          </a:p>
        </p:txBody>
      </p:sp>
      <p:sp>
        <p:nvSpPr>
          <p:cNvPr id="17" name="Text: vs. unfenced layout"/>
          <p:cNvSpPr txBox="1"/>
          <p:nvPr/>
        </p:nvSpPr>
        <p:spPr>
          <a:xfrm>
            <a:off x="3564533" y="5842000"/>
            <a:ext cx="2497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vs. unfenced layout</a:t>
            </a:r>
            <a:endParaRPr lang="en-US" sz="1400" dirty="0"/>
          </a:p>
        </p:txBody>
      </p:sp>
      <p:pic>
        <p:nvPicPr>
          <p:cNvPr id="18" name="Die with copy A and copy B fenced on opposite edges" descr="Die with copy A and copy B fenced on opposite edg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7965" y="1238250"/>
            <a:ext cx="4961235" cy="4699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812800" y="812800"/>
            <a:ext cx="6096000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"/>
              </a:spcBef>
              <a:buNone/>
            </a:pPr>
            <a:r>
              <a:rPr lang="en-US" sz="1200" spc="144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SIGN-OFF</a:t>
            </a:r>
            <a:endParaRPr lang="en-US" sz="1200" dirty="0"/>
          </a:p>
        </p:txBody>
      </p:sp>
      <p:sp>
        <p:nvSpPr>
          <p:cNvPr id="3" name="Page tag"/>
          <p:cNvSpPr/>
          <p:nvPr>
            <p:ph idx="101" type="body" hasCustomPrompt="1"/>
          </p:nvPr>
        </p:nvSpPr>
        <p:spPr>
          <a:xfrm>
            <a:off x="7823200" y="812800"/>
            <a:ext cx="3556000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1"/>
              </a:spcBef>
              <a:buNone/>
            </a:pPr>
            <a:r>
              <a:rPr lang="en-US" sz="1200" spc="144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ORBIT-AI · 07</a:t>
            </a:r>
            <a:endParaRPr lang="en-US" sz="12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812800" y="1339850"/>
            <a:ext cx="10617200" cy="6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400" b="1" spc="-88" kern="0" dirty="0">
                <a:solidFill>
                  <a:schemeClr val="bg2"/>
                </a:solidFill>
              </a:rPr>
              <a:t>Clean enough to tape out.</a:t>
            </a:r>
            <a:endParaRPr lang="en-US" sz="4400" dirty="0"/>
          </a:p>
        </p:txBody>
      </p:sp>
      <p:sp>
        <p:nvSpPr>
          <p:cNvPr id="5" name="Rule"/>
          <p:cNvSpPr/>
          <p:nvPr/>
        </p:nvSpPr>
        <p:spPr>
          <a:xfrm>
            <a:off x="812800" y="4864100"/>
            <a:ext cx="3251200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: 0"/>
          <p:cNvSpPr txBox="1"/>
          <p:nvPr/>
        </p:nvSpPr>
        <p:spPr>
          <a:xfrm>
            <a:off x="812800" y="5073650"/>
            <a:ext cx="3302000" cy="673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00" b="1" spc="-132" kern="0" dirty="0">
                <a:solidFill>
                  <a:schemeClr val="bg2"/>
                </a:solidFill>
              </a:rPr>
              <a:t>0</a:t>
            </a:r>
            <a:endParaRPr lang="en-US" sz="4400" dirty="0"/>
          </a:p>
        </p:txBody>
      </p:sp>
      <p:sp>
        <p:nvSpPr>
          <p:cNvPr id="7" name="Text: DRC violations"/>
          <p:cNvSpPr txBox="1"/>
          <p:nvPr/>
        </p:nvSpPr>
        <p:spPr>
          <a:xfrm>
            <a:off x="812800" y="5797550"/>
            <a:ext cx="33020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chemeClr val="accent2"/>
                </a:solidFill>
              </a:rPr>
              <a:t>DRC violations</a:t>
            </a:r>
            <a:endParaRPr lang="en-US" sz="1500" dirty="0"/>
          </a:p>
        </p:txBody>
      </p:sp>
      <p:sp>
        <p:nvSpPr>
          <p:cNvPr id="8" name="Rule"/>
          <p:cNvSpPr/>
          <p:nvPr/>
        </p:nvSpPr>
        <p:spPr>
          <a:xfrm>
            <a:off x="4470400" y="4864100"/>
            <a:ext cx="3251200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9" name="Text: Clean"/>
          <p:cNvSpPr txBox="1"/>
          <p:nvPr/>
        </p:nvSpPr>
        <p:spPr>
          <a:xfrm>
            <a:off x="4470400" y="5073650"/>
            <a:ext cx="3302000" cy="673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00" b="1" spc="-132" kern="0" dirty="0">
                <a:solidFill>
                  <a:schemeClr val="bg2"/>
                </a:solidFill>
              </a:rPr>
              <a:t>Clean</a:t>
            </a:r>
            <a:endParaRPr lang="en-US" sz="4400" dirty="0"/>
          </a:p>
        </p:txBody>
      </p:sp>
      <p:sp>
        <p:nvSpPr>
          <p:cNvPr id="10" name="Text: LVS: layout matches netlist"/>
          <p:cNvSpPr txBox="1"/>
          <p:nvPr/>
        </p:nvSpPr>
        <p:spPr>
          <a:xfrm>
            <a:off x="4470400" y="5797550"/>
            <a:ext cx="33020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chemeClr val="accent2"/>
                </a:solidFill>
              </a:rPr>
              <a:t>LVS: layout matches netlist</a:t>
            </a:r>
            <a:endParaRPr lang="en-US" sz="1500" dirty="0"/>
          </a:p>
        </p:txBody>
      </p:sp>
      <p:sp>
        <p:nvSpPr>
          <p:cNvPr id="11" name="Rule"/>
          <p:cNvSpPr/>
          <p:nvPr/>
        </p:nvSpPr>
        <p:spPr>
          <a:xfrm>
            <a:off x="8128000" y="4864100"/>
            <a:ext cx="3251200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: +0.031 ns"/>
          <p:cNvSpPr txBox="1"/>
          <p:nvPr/>
        </p:nvSpPr>
        <p:spPr>
          <a:xfrm>
            <a:off x="8128000" y="5073650"/>
            <a:ext cx="3302000" cy="673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00" b="1" spc="-132" kern="0" dirty="0">
                <a:solidFill>
                  <a:schemeClr val="bg2"/>
                </a:solidFill>
              </a:rPr>
              <a:t>+0.031 ns</a:t>
            </a:r>
            <a:endParaRPr lang="en-US" sz="4400" dirty="0"/>
          </a:p>
        </p:txBody>
      </p:sp>
      <p:sp>
        <p:nvSpPr>
          <p:cNvPr id="13" name="Text: timing slack at 7.2 ns"/>
          <p:cNvSpPr txBox="1"/>
          <p:nvPr/>
        </p:nvSpPr>
        <p:spPr>
          <a:xfrm>
            <a:off x="8128000" y="5797550"/>
            <a:ext cx="33020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chemeClr val="accent2"/>
                </a:solidFill>
              </a:rPr>
              <a:t>timing slack at 7.2 ns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812800" y="812800"/>
            <a:ext cx="6096000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"/>
              </a:spcBef>
              <a:buNone/>
            </a:pPr>
            <a:r>
              <a:rPr lang="en-US" sz="1200" spc="144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COMPETITIVE LANDSCAPE</a:t>
            </a:r>
            <a:endParaRPr lang="en-US" sz="1200" dirty="0"/>
          </a:p>
        </p:txBody>
      </p:sp>
      <p:sp>
        <p:nvSpPr>
          <p:cNvPr id="3" name="Page tag"/>
          <p:cNvSpPr/>
          <p:nvPr>
            <p:ph idx="101" type="body" hasCustomPrompt="1"/>
          </p:nvPr>
        </p:nvSpPr>
        <p:spPr>
          <a:xfrm>
            <a:off x="7823200" y="812800"/>
            <a:ext cx="3556000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1"/>
              </a:spcBef>
              <a:buNone/>
            </a:pPr>
            <a:r>
              <a:rPr lang="en-US" sz="1200" spc="144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ORBIT-AI · 08</a:t>
            </a:r>
            <a:endParaRPr lang="en-US" sz="12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812800" y="1238250"/>
            <a:ext cx="10617200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spc="-72" kern="0" dirty="0">
                <a:solidFill>
                  <a:schemeClr val="tx1"/>
                </a:solidFill>
              </a:rPr>
              <a:t>Only ORBIT-AI checks every box.</a:t>
            </a:r>
            <a:endParaRPr lang="en-US" sz="3600" dirty="0"/>
          </a:p>
        </p:txBody>
      </p:sp>
      <p:sp>
        <p:nvSpPr>
          <p:cNvPr id="5" name="Column highlight"/>
          <p:cNvSpPr/>
          <p:nvPr/>
        </p:nvSpPr>
        <p:spPr>
          <a:xfrm>
            <a:off x="4749800" y="1885950"/>
            <a:ext cx="1104900" cy="3886200"/>
          </a:xfrm>
          <a:prstGeom prst="roundRect">
            <a:avLst>
              <a:gd name="adj" fmla="val 6897"/>
            </a:avLst>
          </a:prstGeom>
          <a:solidFill>
            <a:schemeClr val="tx1"/>
          </a:solidFill>
          <a:ln/>
        </p:spPr>
      </p:sp>
      <p:sp>
        <p:nvSpPr>
          <p:cNvPr id="6" name="Text: ORBIT-AI"/>
          <p:cNvSpPr txBox="1"/>
          <p:nvPr/>
        </p:nvSpPr>
        <p:spPr>
          <a:xfrm>
            <a:off x="4749800" y="2012950"/>
            <a:ext cx="11049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ORBIT-AI</a:t>
            </a:r>
            <a:endParaRPr lang="en-US" sz="1300" dirty="0"/>
          </a:p>
        </p:txBody>
      </p:sp>
      <p:sp>
        <p:nvSpPr>
          <p:cNvPr id="7" name="Text: RAD750"/>
          <p:cNvSpPr txBox="1"/>
          <p:nvPr/>
        </p:nvSpPr>
        <p:spPr>
          <a:xfrm>
            <a:off x="5854700" y="2012950"/>
            <a:ext cx="11049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RAD750</a:t>
            </a:r>
            <a:endParaRPr lang="en-US" sz="1300" dirty="0"/>
          </a:p>
        </p:txBody>
      </p:sp>
      <p:sp>
        <p:nvSpPr>
          <p:cNvPr id="8" name="Text: GR740"/>
          <p:cNvSpPr txBox="1"/>
          <p:nvPr/>
        </p:nvSpPr>
        <p:spPr>
          <a:xfrm>
            <a:off x="6959600" y="2012950"/>
            <a:ext cx="11049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GR740</a:t>
            </a:r>
            <a:endParaRPr lang="en-US" sz="1300" dirty="0"/>
          </a:p>
        </p:txBody>
      </p:sp>
      <p:sp>
        <p:nvSpPr>
          <p:cNvPr id="9" name="Text: XQR Versal"/>
          <p:cNvSpPr txBox="1"/>
          <p:nvPr/>
        </p:nvSpPr>
        <p:spPr>
          <a:xfrm>
            <a:off x="8064500" y="2012950"/>
            <a:ext cx="11049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XQR Versal</a:t>
            </a:r>
            <a:endParaRPr lang="en-US" sz="1300" dirty="0"/>
          </a:p>
        </p:txBody>
      </p:sp>
      <p:sp>
        <p:nvSpPr>
          <p:cNvPr id="10" name="Text: PIC64-HPSC"/>
          <p:cNvSpPr txBox="1"/>
          <p:nvPr/>
        </p:nvSpPr>
        <p:spPr>
          <a:xfrm>
            <a:off x="9169400" y="2012950"/>
            <a:ext cx="11049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PIC64-HPSC</a:t>
            </a:r>
            <a:endParaRPr lang="en-US" sz="1300" dirty="0"/>
          </a:p>
        </p:txBody>
      </p:sp>
      <p:sp>
        <p:nvSpPr>
          <p:cNvPr id="11" name="Text: Jetson Orin NX"/>
          <p:cNvSpPr txBox="1"/>
          <p:nvPr/>
        </p:nvSpPr>
        <p:spPr>
          <a:xfrm>
            <a:off x="10274300" y="2012950"/>
            <a:ext cx="11049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300" b="1" dirty="0">
                <a:solidFill>
                  <a:schemeClr val="accent1"/>
                </a:solidFill>
              </a:rPr>
              <a:t>Jetson Orin NX</a:t>
            </a:r>
            <a:endParaRPr lang="en-US" sz="1300" dirty="0"/>
          </a:p>
        </p:txBody>
      </p:sp>
      <p:sp>
        <p:nvSpPr>
          <p:cNvPr id="12" name="Rule"/>
          <p:cNvSpPr/>
          <p:nvPr/>
        </p:nvSpPr>
        <p:spPr>
          <a:xfrm>
            <a:off x="812800" y="2536825"/>
            <a:ext cx="10566400" cy="0"/>
          </a:xfrm>
          <a:prstGeom prst="line">
            <a:avLst/>
          </a:prstGeom>
          <a:noFill/>
          <a:ln w="6350">
            <a:solidFill>
              <a:schemeClr val="accent3"/>
            </a:solidFill>
            <a:prstDash val="solid"/>
          </a:ln>
        </p:spPr>
      </p:sp>
      <p:sp>
        <p:nvSpPr>
          <p:cNvPr id="13" name="Text: AI inference engine (INT8)"/>
          <p:cNvSpPr txBox="1"/>
          <p:nvPr/>
        </p:nvSpPr>
        <p:spPr>
          <a:xfrm>
            <a:off x="812800" y="2540000"/>
            <a:ext cx="3987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AI inference engine (INT8)</a:t>
            </a:r>
            <a:endParaRPr lang="en-US" sz="1400" dirty="0"/>
          </a:p>
        </p:txBody>
      </p:sp>
      <p:sp>
        <p:nvSpPr>
          <p:cNvPr id="14" name="Check"/>
          <p:cNvSpPr/>
          <p:nvPr/>
        </p:nvSpPr>
        <p:spPr>
          <a:xfrm>
            <a:off x="5175250" y="26797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11667" y="63500"/>
                </a:moveTo>
                <a:lnTo>
                  <a:pt x="95250" y="179917"/>
                </a:lnTo>
                <a:lnTo>
                  <a:pt x="42333" y="127000"/>
                </a:lnTo>
              </a:path>
            </a:pathLst>
          </a:custGeom>
          <a:noFill/>
          <a:ln w="21167">
            <a:solidFill>
              <a:schemeClr val="bg1"/>
            </a:solidFill>
            <a:prstDash val="solid"/>
          </a:ln>
        </p:spPr>
      </p:sp>
      <p:sp>
        <p:nvSpPr>
          <p:cNvPr id="15" name="Text: –"/>
          <p:cNvSpPr txBox="1"/>
          <p:nvPr/>
        </p:nvSpPr>
        <p:spPr>
          <a:xfrm>
            <a:off x="6350595" y="2689225"/>
            <a:ext cx="16381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–</a:t>
            </a:r>
            <a:endParaRPr lang="en-US" sz="1600" dirty="0"/>
          </a:p>
        </p:txBody>
      </p:sp>
      <p:sp>
        <p:nvSpPr>
          <p:cNvPr id="16" name="Text: –"/>
          <p:cNvSpPr txBox="1"/>
          <p:nvPr/>
        </p:nvSpPr>
        <p:spPr>
          <a:xfrm>
            <a:off x="7455495" y="2689225"/>
            <a:ext cx="16381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–</a:t>
            </a:r>
            <a:endParaRPr lang="en-US" sz="1600" dirty="0"/>
          </a:p>
        </p:txBody>
      </p:sp>
      <p:sp>
        <p:nvSpPr>
          <p:cNvPr id="17" name="Check"/>
          <p:cNvSpPr/>
          <p:nvPr/>
        </p:nvSpPr>
        <p:spPr>
          <a:xfrm>
            <a:off x="8489950" y="26797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11667" y="63500"/>
                </a:moveTo>
                <a:lnTo>
                  <a:pt x="95250" y="179917"/>
                </a:lnTo>
                <a:lnTo>
                  <a:pt x="42333" y="127000"/>
                </a:lnTo>
              </a:path>
            </a:pathLst>
          </a:custGeom>
          <a:noFill/>
          <a:ln w="21167">
            <a:solidFill>
              <a:schemeClr val="tx1"/>
            </a:solidFill>
            <a:prstDash val="solid"/>
          </a:ln>
        </p:spPr>
      </p:sp>
      <p:sp>
        <p:nvSpPr>
          <p:cNvPr id="18" name="Check"/>
          <p:cNvSpPr/>
          <p:nvPr/>
        </p:nvSpPr>
        <p:spPr>
          <a:xfrm>
            <a:off x="9594850" y="26797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11667" y="63500"/>
                </a:moveTo>
                <a:lnTo>
                  <a:pt x="95250" y="179917"/>
                </a:lnTo>
                <a:lnTo>
                  <a:pt x="42333" y="127000"/>
                </a:lnTo>
              </a:path>
            </a:pathLst>
          </a:custGeom>
          <a:noFill/>
          <a:ln w="21167">
            <a:solidFill>
              <a:schemeClr val="tx1"/>
            </a:solidFill>
            <a:prstDash val="solid"/>
          </a:ln>
        </p:spPr>
      </p:sp>
      <p:sp>
        <p:nvSpPr>
          <p:cNvPr id="19" name="Check"/>
          <p:cNvSpPr/>
          <p:nvPr/>
        </p:nvSpPr>
        <p:spPr>
          <a:xfrm>
            <a:off x="10699750" y="26797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11667" y="63500"/>
                </a:moveTo>
                <a:lnTo>
                  <a:pt x="95250" y="179917"/>
                </a:lnTo>
                <a:lnTo>
                  <a:pt x="42333" y="127000"/>
                </a:lnTo>
              </a:path>
            </a:pathLst>
          </a:custGeom>
          <a:noFill/>
          <a:ln w="21167">
            <a:solidFill>
              <a:schemeClr val="tx1"/>
            </a:solidFill>
            <a:prstDash val="solid"/>
          </a:ln>
        </p:spPr>
      </p:sp>
      <p:sp>
        <p:nvSpPr>
          <p:cNvPr id="20" name="Rule"/>
          <p:cNvSpPr/>
          <p:nvPr/>
        </p:nvSpPr>
        <p:spPr>
          <a:xfrm>
            <a:off x="812800" y="3076575"/>
            <a:ext cx="10566400" cy="0"/>
          </a:xfrm>
          <a:prstGeom prst="line">
            <a:avLst/>
          </a:prstGeom>
          <a:noFill/>
          <a:ln w="6350">
            <a:solidFill>
              <a:schemeClr val="accent3"/>
            </a:solidFill>
            <a:prstDash val="solid"/>
          </a:ln>
        </p:spPr>
      </p:sp>
      <p:sp>
        <p:nvSpPr>
          <p:cNvPr id="21" name="Text: Hardware fault tolerance beyond memory E"/>
          <p:cNvSpPr txBox="1"/>
          <p:nvPr/>
        </p:nvSpPr>
        <p:spPr>
          <a:xfrm>
            <a:off x="812800" y="3079750"/>
            <a:ext cx="3987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Hardware fault tolerance beyond memory ECC</a:t>
            </a:r>
            <a:endParaRPr lang="en-US" sz="1400" dirty="0"/>
          </a:p>
        </p:txBody>
      </p:sp>
      <p:sp>
        <p:nvSpPr>
          <p:cNvPr id="22" name="Check"/>
          <p:cNvSpPr/>
          <p:nvPr/>
        </p:nvSpPr>
        <p:spPr>
          <a:xfrm>
            <a:off x="5175250" y="321945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11667" y="63500"/>
                </a:moveTo>
                <a:lnTo>
                  <a:pt x="95250" y="179917"/>
                </a:lnTo>
                <a:lnTo>
                  <a:pt x="42333" y="127000"/>
                </a:lnTo>
              </a:path>
            </a:pathLst>
          </a:custGeom>
          <a:noFill/>
          <a:ln w="21167">
            <a:solidFill>
              <a:schemeClr val="bg1"/>
            </a:solidFill>
            <a:prstDash val="solid"/>
          </a:ln>
        </p:spPr>
      </p:sp>
      <p:sp>
        <p:nvSpPr>
          <p:cNvPr id="23" name="Check"/>
          <p:cNvSpPr/>
          <p:nvPr/>
        </p:nvSpPr>
        <p:spPr>
          <a:xfrm>
            <a:off x="6280150" y="321945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11667" y="63500"/>
                </a:moveTo>
                <a:lnTo>
                  <a:pt x="95250" y="179917"/>
                </a:lnTo>
                <a:lnTo>
                  <a:pt x="42333" y="127000"/>
                </a:lnTo>
              </a:path>
            </a:pathLst>
          </a:custGeom>
          <a:noFill/>
          <a:ln w="21167">
            <a:solidFill>
              <a:schemeClr val="tx1"/>
            </a:solidFill>
            <a:prstDash val="solid"/>
          </a:ln>
        </p:spPr>
      </p:sp>
      <p:sp>
        <p:nvSpPr>
          <p:cNvPr id="24" name="Check"/>
          <p:cNvSpPr/>
          <p:nvPr/>
        </p:nvSpPr>
        <p:spPr>
          <a:xfrm>
            <a:off x="7385050" y="321945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11667" y="63500"/>
                </a:moveTo>
                <a:lnTo>
                  <a:pt x="95250" y="179917"/>
                </a:lnTo>
                <a:lnTo>
                  <a:pt x="42333" y="127000"/>
                </a:lnTo>
              </a:path>
            </a:pathLst>
          </a:custGeom>
          <a:noFill/>
          <a:ln w="21167">
            <a:solidFill>
              <a:schemeClr val="tx1"/>
            </a:solidFill>
            <a:prstDash val="solid"/>
          </a:ln>
        </p:spPr>
      </p:sp>
      <p:sp>
        <p:nvSpPr>
          <p:cNvPr id="25" name="Check"/>
          <p:cNvSpPr/>
          <p:nvPr/>
        </p:nvSpPr>
        <p:spPr>
          <a:xfrm>
            <a:off x="8489950" y="321945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11667" y="63500"/>
                </a:moveTo>
                <a:lnTo>
                  <a:pt x="95250" y="179917"/>
                </a:lnTo>
                <a:lnTo>
                  <a:pt x="42333" y="127000"/>
                </a:lnTo>
              </a:path>
            </a:pathLst>
          </a:custGeom>
          <a:noFill/>
          <a:ln w="21167">
            <a:solidFill>
              <a:schemeClr val="tx1"/>
            </a:solidFill>
            <a:prstDash val="solid"/>
          </a:ln>
        </p:spPr>
      </p:sp>
      <p:sp>
        <p:nvSpPr>
          <p:cNvPr id="26" name="Check"/>
          <p:cNvSpPr/>
          <p:nvPr/>
        </p:nvSpPr>
        <p:spPr>
          <a:xfrm>
            <a:off x="9594850" y="321945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11667" y="63500"/>
                </a:moveTo>
                <a:lnTo>
                  <a:pt x="95250" y="179917"/>
                </a:lnTo>
                <a:lnTo>
                  <a:pt x="42333" y="127000"/>
                </a:lnTo>
              </a:path>
            </a:pathLst>
          </a:custGeom>
          <a:noFill/>
          <a:ln w="21167">
            <a:solidFill>
              <a:schemeClr val="tx1"/>
            </a:solidFill>
            <a:prstDash val="solid"/>
          </a:ln>
        </p:spPr>
      </p:sp>
      <p:sp>
        <p:nvSpPr>
          <p:cNvPr id="27" name="Text: –"/>
          <p:cNvSpPr txBox="1"/>
          <p:nvPr/>
        </p:nvSpPr>
        <p:spPr>
          <a:xfrm>
            <a:off x="10770195" y="3228975"/>
            <a:ext cx="16381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–</a:t>
            </a:r>
            <a:endParaRPr lang="en-US" sz="1600" dirty="0"/>
          </a:p>
        </p:txBody>
      </p:sp>
      <p:sp>
        <p:nvSpPr>
          <p:cNvPr id="28" name="Rule"/>
          <p:cNvSpPr/>
          <p:nvPr/>
        </p:nvSpPr>
        <p:spPr>
          <a:xfrm>
            <a:off x="812800" y="3616325"/>
            <a:ext cx="10566400" cy="0"/>
          </a:xfrm>
          <a:prstGeom prst="line">
            <a:avLst/>
          </a:prstGeom>
          <a:noFill/>
          <a:ln w="6350">
            <a:solidFill>
              <a:schemeClr val="accent3"/>
            </a:solidFill>
            <a:prstDash val="solid"/>
          </a:ln>
        </p:spPr>
      </p:sp>
      <p:sp>
        <p:nvSpPr>
          <p:cNvPr id="29" name="Text: Separated copies, measured in layout"/>
          <p:cNvSpPr txBox="1"/>
          <p:nvPr/>
        </p:nvSpPr>
        <p:spPr>
          <a:xfrm>
            <a:off x="812800" y="3619500"/>
            <a:ext cx="3987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Separated copies, measured in layout</a:t>
            </a:r>
            <a:endParaRPr lang="en-US" sz="1400" dirty="0"/>
          </a:p>
        </p:txBody>
      </p:sp>
      <p:sp>
        <p:nvSpPr>
          <p:cNvPr id="30" name="Check"/>
          <p:cNvSpPr/>
          <p:nvPr/>
        </p:nvSpPr>
        <p:spPr>
          <a:xfrm>
            <a:off x="5175250" y="3759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11667" y="63500"/>
                </a:moveTo>
                <a:lnTo>
                  <a:pt x="95250" y="179917"/>
                </a:lnTo>
                <a:lnTo>
                  <a:pt x="42333" y="127000"/>
                </a:lnTo>
              </a:path>
            </a:pathLst>
          </a:custGeom>
          <a:noFill/>
          <a:ln w="21167">
            <a:solidFill>
              <a:schemeClr val="bg1"/>
            </a:solidFill>
            <a:prstDash val="solid"/>
          </a:ln>
        </p:spPr>
      </p:sp>
      <p:sp>
        <p:nvSpPr>
          <p:cNvPr id="31" name="Text: –"/>
          <p:cNvSpPr txBox="1"/>
          <p:nvPr/>
        </p:nvSpPr>
        <p:spPr>
          <a:xfrm>
            <a:off x="6350595" y="3768725"/>
            <a:ext cx="16381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–</a:t>
            </a:r>
            <a:endParaRPr lang="en-US" sz="1600" dirty="0"/>
          </a:p>
        </p:txBody>
      </p:sp>
      <p:sp>
        <p:nvSpPr>
          <p:cNvPr id="32" name="Text: –"/>
          <p:cNvSpPr txBox="1"/>
          <p:nvPr/>
        </p:nvSpPr>
        <p:spPr>
          <a:xfrm>
            <a:off x="7455495" y="3768725"/>
            <a:ext cx="16381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–</a:t>
            </a:r>
            <a:endParaRPr lang="en-US" sz="1600" dirty="0"/>
          </a:p>
        </p:txBody>
      </p:sp>
      <p:sp>
        <p:nvSpPr>
          <p:cNvPr id="33" name="Text: –"/>
          <p:cNvSpPr txBox="1"/>
          <p:nvPr/>
        </p:nvSpPr>
        <p:spPr>
          <a:xfrm>
            <a:off x="8560395" y="3768725"/>
            <a:ext cx="16381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–</a:t>
            </a:r>
            <a:endParaRPr lang="en-US" sz="1600" dirty="0"/>
          </a:p>
        </p:txBody>
      </p:sp>
      <p:sp>
        <p:nvSpPr>
          <p:cNvPr id="34" name="Text: –"/>
          <p:cNvSpPr txBox="1"/>
          <p:nvPr/>
        </p:nvSpPr>
        <p:spPr>
          <a:xfrm>
            <a:off x="9665295" y="3768725"/>
            <a:ext cx="16381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–</a:t>
            </a:r>
            <a:endParaRPr lang="en-US" sz="1600" dirty="0"/>
          </a:p>
        </p:txBody>
      </p:sp>
      <p:sp>
        <p:nvSpPr>
          <p:cNvPr id="35" name="Text: –"/>
          <p:cNvSpPr txBox="1"/>
          <p:nvPr/>
        </p:nvSpPr>
        <p:spPr>
          <a:xfrm>
            <a:off x="10770195" y="3768725"/>
            <a:ext cx="16381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–</a:t>
            </a:r>
            <a:endParaRPr lang="en-US" sz="1600" dirty="0"/>
          </a:p>
        </p:txBody>
      </p:sp>
      <p:sp>
        <p:nvSpPr>
          <p:cNvPr id="36" name="Rule"/>
          <p:cNvSpPr/>
          <p:nvPr/>
        </p:nvSpPr>
        <p:spPr>
          <a:xfrm>
            <a:off x="812800" y="4156075"/>
            <a:ext cx="10566400" cy="0"/>
          </a:xfrm>
          <a:prstGeom prst="line">
            <a:avLst/>
          </a:prstGeom>
          <a:noFill/>
          <a:ln w="6350">
            <a:solidFill>
              <a:schemeClr val="accent3"/>
            </a:solidFill>
            <a:prstDash val="solid"/>
          </a:ln>
        </p:spPr>
      </p:sp>
      <p:sp>
        <p:nvSpPr>
          <p:cNvPr id="37" name="Text: Fault injection published bit by bit"/>
          <p:cNvSpPr txBox="1"/>
          <p:nvPr/>
        </p:nvSpPr>
        <p:spPr>
          <a:xfrm>
            <a:off x="812800" y="4159250"/>
            <a:ext cx="3987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Fault injection published bit by bit</a:t>
            </a:r>
            <a:endParaRPr lang="en-US" sz="1400" dirty="0"/>
          </a:p>
        </p:txBody>
      </p:sp>
      <p:sp>
        <p:nvSpPr>
          <p:cNvPr id="38" name="Check"/>
          <p:cNvSpPr/>
          <p:nvPr/>
        </p:nvSpPr>
        <p:spPr>
          <a:xfrm>
            <a:off x="5175250" y="429895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11667" y="63500"/>
                </a:moveTo>
                <a:lnTo>
                  <a:pt x="95250" y="179917"/>
                </a:lnTo>
                <a:lnTo>
                  <a:pt x="42333" y="127000"/>
                </a:lnTo>
              </a:path>
            </a:pathLst>
          </a:custGeom>
          <a:noFill/>
          <a:ln w="21167">
            <a:solidFill>
              <a:schemeClr val="bg1"/>
            </a:solidFill>
            <a:prstDash val="solid"/>
          </a:ln>
        </p:spPr>
      </p:sp>
      <p:sp>
        <p:nvSpPr>
          <p:cNvPr id="39" name="Text: –"/>
          <p:cNvSpPr txBox="1"/>
          <p:nvPr/>
        </p:nvSpPr>
        <p:spPr>
          <a:xfrm>
            <a:off x="6350595" y="4308475"/>
            <a:ext cx="16381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–</a:t>
            </a:r>
            <a:endParaRPr lang="en-US" sz="1600" dirty="0"/>
          </a:p>
        </p:txBody>
      </p:sp>
      <p:sp>
        <p:nvSpPr>
          <p:cNvPr id="40" name="Text: –"/>
          <p:cNvSpPr txBox="1"/>
          <p:nvPr/>
        </p:nvSpPr>
        <p:spPr>
          <a:xfrm>
            <a:off x="7455495" y="4308475"/>
            <a:ext cx="16381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–</a:t>
            </a:r>
            <a:endParaRPr lang="en-US" sz="1600" dirty="0"/>
          </a:p>
        </p:txBody>
      </p:sp>
      <p:sp>
        <p:nvSpPr>
          <p:cNvPr id="41" name="Text: –"/>
          <p:cNvSpPr txBox="1"/>
          <p:nvPr/>
        </p:nvSpPr>
        <p:spPr>
          <a:xfrm>
            <a:off x="8560395" y="4308475"/>
            <a:ext cx="16381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–</a:t>
            </a:r>
            <a:endParaRPr lang="en-US" sz="1600" dirty="0"/>
          </a:p>
        </p:txBody>
      </p:sp>
      <p:sp>
        <p:nvSpPr>
          <p:cNvPr id="42" name="Text: –"/>
          <p:cNvSpPr txBox="1"/>
          <p:nvPr/>
        </p:nvSpPr>
        <p:spPr>
          <a:xfrm>
            <a:off x="9665295" y="4308475"/>
            <a:ext cx="16381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–</a:t>
            </a:r>
            <a:endParaRPr lang="en-US" sz="1600" dirty="0"/>
          </a:p>
        </p:txBody>
      </p:sp>
      <p:sp>
        <p:nvSpPr>
          <p:cNvPr id="43" name="Text: –"/>
          <p:cNvSpPr txBox="1"/>
          <p:nvPr/>
        </p:nvSpPr>
        <p:spPr>
          <a:xfrm>
            <a:off x="10770195" y="4308475"/>
            <a:ext cx="16381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–</a:t>
            </a:r>
            <a:endParaRPr lang="en-US" sz="1600" dirty="0"/>
          </a:p>
        </p:txBody>
      </p:sp>
      <p:sp>
        <p:nvSpPr>
          <p:cNvPr id="44" name="Rule"/>
          <p:cNvSpPr/>
          <p:nvPr/>
        </p:nvSpPr>
        <p:spPr>
          <a:xfrm>
            <a:off x="812800" y="4695825"/>
            <a:ext cx="10566400" cy="0"/>
          </a:xfrm>
          <a:prstGeom prst="line">
            <a:avLst/>
          </a:prstGeom>
          <a:noFill/>
          <a:ln w="6350">
            <a:solidFill>
              <a:schemeClr val="accent3"/>
            </a:solidFill>
            <a:prstDash val="solid"/>
          </a:ln>
        </p:spPr>
      </p:sp>
      <p:sp>
        <p:nvSpPr>
          <p:cNvPr id="45" name="Text: No wrong result on a detected upset"/>
          <p:cNvSpPr txBox="1"/>
          <p:nvPr/>
        </p:nvSpPr>
        <p:spPr>
          <a:xfrm>
            <a:off x="812800" y="4699000"/>
            <a:ext cx="3987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wrong result on a detected upset</a:t>
            </a:r>
            <a:endParaRPr lang="en-US" sz="1400" dirty="0"/>
          </a:p>
        </p:txBody>
      </p:sp>
      <p:sp>
        <p:nvSpPr>
          <p:cNvPr id="46" name="Check"/>
          <p:cNvSpPr/>
          <p:nvPr/>
        </p:nvSpPr>
        <p:spPr>
          <a:xfrm>
            <a:off x="5175250" y="48387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11667" y="63500"/>
                </a:moveTo>
                <a:lnTo>
                  <a:pt x="95250" y="179917"/>
                </a:lnTo>
                <a:lnTo>
                  <a:pt x="42333" y="127000"/>
                </a:lnTo>
              </a:path>
            </a:pathLst>
          </a:custGeom>
          <a:noFill/>
          <a:ln w="21167">
            <a:solidFill>
              <a:schemeClr val="bg1"/>
            </a:solidFill>
            <a:prstDash val="solid"/>
          </a:ln>
        </p:spPr>
      </p:sp>
      <p:sp>
        <p:nvSpPr>
          <p:cNvPr id="47" name="Text: –"/>
          <p:cNvSpPr txBox="1"/>
          <p:nvPr/>
        </p:nvSpPr>
        <p:spPr>
          <a:xfrm>
            <a:off x="6350595" y="4848225"/>
            <a:ext cx="16381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–</a:t>
            </a:r>
            <a:endParaRPr lang="en-US" sz="1600" dirty="0"/>
          </a:p>
        </p:txBody>
      </p:sp>
      <p:sp>
        <p:nvSpPr>
          <p:cNvPr id="48" name="Text: –"/>
          <p:cNvSpPr txBox="1"/>
          <p:nvPr/>
        </p:nvSpPr>
        <p:spPr>
          <a:xfrm>
            <a:off x="7455495" y="4848225"/>
            <a:ext cx="16381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–</a:t>
            </a:r>
            <a:endParaRPr lang="en-US" sz="1600" dirty="0"/>
          </a:p>
        </p:txBody>
      </p:sp>
      <p:sp>
        <p:nvSpPr>
          <p:cNvPr id="49" name="Text: –"/>
          <p:cNvSpPr txBox="1"/>
          <p:nvPr/>
        </p:nvSpPr>
        <p:spPr>
          <a:xfrm>
            <a:off x="8560395" y="4848225"/>
            <a:ext cx="16381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–</a:t>
            </a:r>
            <a:endParaRPr lang="en-US" sz="1600" dirty="0"/>
          </a:p>
        </p:txBody>
      </p:sp>
      <p:sp>
        <p:nvSpPr>
          <p:cNvPr id="50" name="Text: –"/>
          <p:cNvSpPr txBox="1"/>
          <p:nvPr/>
        </p:nvSpPr>
        <p:spPr>
          <a:xfrm>
            <a:off x="9665295" y="4848225"/>
            <a:ext cx="16381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–</a:t>
            </a:r>
            <a:endParaRPr lang="en-US" sz="1600" dirty="0"/>
          </a:p>
        </p:txBody>
      </p:sp>
      <p:sp>
        <p:nvSpPr>
          <p:cNvPr id="51" name="Text: –"/>
          <p:cNvSpPr txBox="1"/>
          <p:nvPr/>
        </p:nvSpPr>
        <p:spPr>
          <a:xfrm>
            <a:off x="10770195" y="4848225"/>
            <a:ext cx="16381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–</a:t>
            </a:r>
            <a:endParaRPr lang="en-US" sz="1600" dirty="0"/>
          </a:p>
        </p:txBody>
      </p:sp>
      <p:sp>
        <p:nvSpPr>
          <p:cNvPr id="52" name="Rule"/>
          <p:cNvSpPr/>
          <p:nvPr/>
        </p:nvSpPr>
        <p:spPr>
          <a:xfrm>
            <a:off x="812800" y="5235575"/>
            <a:ext cx="10566400" cy="0"/>
          </a:xfrm>
          <a:prstGeom prst="line">
            <a:avLst/>
          </a:prstGeom>
          <a:noFill/>
          <a:ln w="6350">
            <a:solidFill>
              <a:schemeClr val="accent3"/>
            </a:solidFill>
            <a:prstDash val="solid"/>
          </a:ln>
        </p:spPr>
      </p:sp>
      <p:sp>
        <p:nvSpPr>
          <p:cNvPr id="53" name="Text: Open design"/>
          <p:cNvSpPr txBox="1"/>
          <p:nvPr/>
        </p:nvSpPr>
        <p:spPr>
          <a:xfrm>
            <a:off x="812800" y="5238750"/>
            <a:ext cx="3987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Open design</a:t>
            </a:r>
            <a:endParaRPr lang="en-US" sz="1400" dirty="0"/>
          </a:p>
        </p:txBody>
      </p:sp>
      <p:sp>
        <p:nvSpPr>
          <p:cNvPr id="54" name="Check"/>
          <p:cNvSpPr/>
          <p:nvPr/>
        </p:nvSpPr>
        <p:spPr>
          <a:xfrm>
            <a:off x="5175250" y="537845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11667" y="63500"/>
                </a:moveTo>
                <a:lnTo>
                  <a:pt x="95250" y="179917"/>
                </a:lnTo>
                <a:lnTo>
                  <a:pt x="42333" y="127000"/>
                </a:lnTo>
              </a:path>
            </a:pathLst>
          </a:custGeom>
          <a:noFill/>
          <a:ln w="21167">
            <a:solidFill>
              <a:schemeClr val="bg1"/>
            </a:solidFill>
            <a:prstDash val="solid"/>
          </a:ln>
        </p:spPr>
      </p:sp>
      <p:sp>
        <p:nvSpPr>
          <p:cNvPr id="55" name="Text: –"/>
          <p:cNvSpPr txBox="1"/>
          <p:nvPr/>
        </p:nvSpPr>
        <p:spPr>
          <a:xfrm>
            <a:off x="6350595" y="5387975"/>
            <a:ext cx="16381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–</a:t>
            </a:r>
            <a:endParaRPr lang="en-US" sz="1600" dirty="0"/>
          </a:p>
        </p:txBody>
      </p:sp>
      <p:sp>
        <p:nvSpPr>
          <p:cNvPr id="56" name="Text: –"/>
          <p:cNvSpPr txBox="1"/>
          <p:nvPr/>
        </p:nvSpPr>
        <p:spPr>
          <a:xfrm>
            <a:off x="7455495" y="5387975"/>
            <a:ext cx="16381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–</a:t>
            </a:r>
            <a:endParaRPr lang="en-US" sz="1600" dirty="0"/>
          </a:p>
        </p:txBody>
      </p:sp>
      <p:sp>
        <p:nvSpPr>
          <p:cNvPr id="57" name="Text: –"/>
          <p:cNvSpPr txBox="1"/>
          <p:nvPr/>
        </p:nvSpPr>
        <p:spPr>
          <a:xfrm>
            <a:off x="8560395" y="5387975"/>
            <a:ext cx="16381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–</a:t>
            </a:r>
            <a:endParaRPr lang="en-US" sz="1600" dirty="0"/>
          </a:p>
        </p:txBody>
      </p:sp>
      <p:sp>
        <p:nvSpPr>
          <p:cNvPr id="58" name="Text: –"/>
          <p:cNvSpPr txBox="1"/>
          <p:nvPr/>
        </p:nvSpPr>
        <p:spPr>
          <a:xfrm>
            <a:off x="9665295" y="5387975"/>
            <a:ext cx="16381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–</a:t>
            </a:r>
            <a:endParaRPr lang="en-US" sz="1600" dirty="0"/>
          </a:p>
        </p:txBody>
      </p:sp>
      <p:sp>
        <p:nvSpPr>
          <p:cNvPr id="59" name="Text: –"/>
          <p:cNvSpPr txBox="1"/>
          <p:nvPr/>
        </p:nvSpPr>
        <p:spPr>
          <a:xfrm>
            <a:off x="10770195" y="5387975"/>
            <a:ext cx="16381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–</a:t>
            </a:r>
            <a:endParaRPr lang="en-US" sz="1600" dirty="0"/>
          </a:p>
        </p:txBody>
      </p:sp>
      <p:sp>
        <p:nvSpPr>
          <p:cNvPr id="60" name="Text: 6/6"/>
          <p:cNvSpPr txBox="1"/>
          <p:nvPr/>
        </p:nvSpPr>
        <p:spPr>
          <a:xfrm>
            <a:off x="4699000" y="5873750"/>
            <a:ext cx="1206500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6/6</a:t>
            </a:r>
            <a:endParaRPr lang="en-US" sz="1200" dirty="0"/>
          </a:p>
        </p:txBody>
      </p:sp>
      <p:sp>
        <p:nvSpPr>
          <p:cNvPr id="61" name="Text: 1/6"/>
          <p:cNvSpPr txBox="1"/>
          <p:nvPr/>
        </p:nvSpPr>
        <p:spPr>
          <a:xfrm>
            <a:off x="5803900" y="5873750"/>
            <a:ext cx="1206500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1/6</a:t>
            </a:r>
            <a:endParaRPr lang="en-US" sz="1200" dirty="0"/>
          </a:p>
        </p:txBody>
      </p:sp>
      <p:sp>
        <p:nvSpPr>
          <p:cNvPr id="62" name="Text: 1/6"/>
          <p:cNvSpPr txBox="1"/>
          <p:nvPr/>
        </p:nvSpPr>
        <p:spPr>
          <a:xfrm>
            <a:off x="6908800" y="5873750"/>
            <a:ext cx="1206500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1/6</a:t>
            </a:r>
            <a:endParaRPr lang="en-US" sz="1200" dirty="0"/>
          </a:p>
        </p:txBody>
      </p:sp>
      <p:sp>
        <p:nvSpPr>
          <p:cNvPr id="63" name="Text: 2/6"/>
          <p:cNvSpPr txBox="1"/>
          <p:nvPr/>
        </p:nvSpPr>
        <p:spPr>
          <a:xfrm>
            <a:off x="8013700" y="5873750"/>
            <a:ext cx="1206500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2/6</a:t>
            </a:r>
            <a:endParaRPr lang="en-US" sz="1200" dirty="0"/>
          </a:p>
        </p:txBody>
      </p:sp>
      <p:sp>
        <p:nvSpPr>
          <p:cNvPr id="64" name="Text: 2/6"/>
          <p:cNvSpPr txBox="1"/>
          <p:nvPr/>
        </p:nvSpPr>
        <p:spPr>
          <a:xfrm>
            <a:off x="9118600" y="5873750"/>
            <a:ext cx="1206500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2/6</a:t>
            </a:r>
            <a:endParaRPr lang="en-US" sz="1200" dirty="0"/>
          </a:p>
        </p:txBody>
      </p:sp>
      <p:sp>
        <p:nvSpPr>
          <p:cNvPr id="65" name="Text: 1/6"/>
          <p:cNvSpPr txBox="1"/>
          <p:nvPr/>
        </p:nvSpPr>
        <p:spPr>
          <a:xfrm>
            <a:off x="10223500" y="5873750"/>
            <a:ext cx="1206500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1/6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812800" y="812800"/>
            <a:ext cx="6096000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"/>
              </a:spcBef>
              <a:buNone/>
            </a:pPr>
            <a:r>
              <a:rPr lang="en-US" sz="1200" spc="144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Page tag"/>
          <p:cNvSpPr/>
          <p:nvPr>
            <p:ph idx="101" type="body" hasCustomPrompt="1"/>
          </p:nvPr>
        </p:nvSpPr>
        <p:spPr>
          <a:xfrm>
            <a:off x="7823200" y="812800"/>
            <a:ext cx="3556000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1"/>
              </a:spcBef>
              <a:buNone/>
            </a:pPr>
            <a:r>
              <a:rPr lang="en-US" sz="1200" spc="144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ORBIT-AI · 09</a:t>
            </a:r>
            <a:endParaRPr lang="en-US" sz="12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812800" y="1339850"/>
            <a:ext cx="10617200" cy="6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400" b="1" spc="-88" kern="0" dirty="0">
                <a:solidFill>
                  <a:schemeClr val="bg2"/>
                </a:solidFill>
              </a:rPr>
              <a:t>From demonstrator to full-size chip.</a:t>
            </a:r>
            <a:endParaRPr lang="en-US" sz="4400" dirty="0"/>
          </a:p>
        </p:txBody>
      </p:sp>
      <p:sp>
        <p:nvSpPr>
          <p:cNvPr id="5" name="Card"/>
          <p:cNvSpPr/>
          <p:nvPr/>
        </p:nvSpPr>
        <p:spPr>
          <a:xfrm>
            <a:off x="815975" y="3644503"/>
            <a:ext cx="2482850" cy="2397522"/>
          </a:xfrm>
          <a:prstGeom prst="roundRect">
            <a:avLst>
              <a:gd name="adj" fmla="val 4105"/>
            </a:avLst>
          </a:prstGeom>
          <a:solidFill>
            <a:schemeClr val="tx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6" name="Text: 01"/>
          <p:cNvSpPr txBox="1"/>
          <p:nvPr/>
        </p:nvSpPr>
        <p:spPr>
          <a:xfrm>
            <a:off x="1123950" y="3952478"/>
            <a:ext cx="1917700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: Built"/>
          <p:cNvSpPr txBox="1"/>
          <p:nvPr/>
        </p:nvSpPr>
        <p:spPr>
          <a:xfrm>
            <a:off x="1123950" y="4276328"/>
            <a:ext cx="19177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chemeClr val="bg2"/>
                </a:solidFill>
              </a:rPr>
              <a:t>Built</a:t>
            </a:r>
            <a:endParaRPr lang="en-US" sz="2000" dirty="0"/>
          </a:p>
        </p:txBody>
      </p:sp>
      <p:sp>
        <p:nvSpPr>
          <p:cNvPr id="8" name="Text: 4-lane demonstrator. Layout clean, fault"/>
          <p:cNvSpPr txBox="1"/>
          <p:nvPr/>
        </p:nvSpPr>
        <p:spPr>
          <a:xfrm>
            <a:off x="1123950" y="4695428"/>
            <a:ext cx="1917700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chemeClr val="accent2"/>
                </a:solidFill>
              </a:rPr>
              <a:t>4-lane demonstrator. Layout clean, faults proven in simulation.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3508375" y="3644503"/>
            <a:ext cx="2482850" cy="2397522"/>
          </a:xfrm>
          <a:prstGeom prst="roundRect">
            <a:avLst>
              <a:gd name="adj" fmla="val 4105"/>
            </a:avLst>
          </a:prstGeom>
          <a:solidFill>
            <a:schemeClr val="tx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0" name="Text: 02"/>
          <p:cNvSpPr txBox="1"/>
          <p:nvPr/>
        </p:nvSpPr>
        <p:spPr>
          <a:xfrm>
            <a:off x="3816350" y="3952478"/>
            <a:ext cx="1917700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: Full-size design"/>
          <p:cNvSpPr txBox="1"/>
          <p:nvPr/>
        </p:nvSpPr>
        <p:spPr>
          <a:xfrm>
            <a:off x="3816350" y="4276328"/>
            <a:ext cx="189262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chemeClr val="bg2"/>
                </a:solidFill>
              </a:rPr>
              <a:t>Full-size design</a:t>
            </a:r>
            <a:endParaRPr lang="en-US" sz="2000" dirty="0"/>
          </a:p>
        </p:txBody>
      </p:sp>
      <p:sp>
        <p:nvSpPr>
          <p:cNvPr id="12" name="Text: 16 tiles, 6.55 to 26.21 INT8 TOPS. Desig"/>
          <p:cNvSpPr txBox="1"/>
          <p:nvPr/>
        </p:nvSpPr>
        <p:spPr>
          <a:xfrm>
            <a:off x="3816350" y="4987528"/>
            <a:ext cx="1917700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chemeClr val="accent2"/>
                </a:solidFill>
              </a:rPr>
              <a:t>16 tiles, 6.55 to 26.21 INT8 TOPS. Designed on paper.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6200775" y="3644503"/>
            <a:ext cx="2482850" cy="2397522"/>
          </a:xfrm>
          <a:prstGeom prst="roundRect">
            <a:avLst>
              <a:gd name="adj" fmla="val 4105"/>
            </a:avLst>
          </a:prstGeom>
          <a:solidFill>
            <a:schemeClr val="tx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4" name="Text: 03"/>
          <p:cNvSpPr txBox="1"/>
          <p:nvPr/>
        </p:nvSpPr>
        <p:spPr>
          <a:xfrm>
            <a:off x="6508750" y="3952478"/>
            <a:ext cx="1917700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: Radiation test"/>
          <p:cNvSpPr txBox="1"/>
          <p:nvPr/>
        </p:nvSpPr>
        <p:spPr>
          <a:xfrm>
            <a:off x="6508750" y="4276328"/>
            <a:ext cx="19177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chemeClr val="bg2"/>
                </a:solidFill>
              </a:rPr>
              <a:t>Radiation test</a:t>
            </a:r>
            <a:endParaRPr lang="en-US" sz="2000" dirty="0"/>
          </a:p>
        </p:txBody>
      </p:sp>
      <p:sp>
        <p:nvSpPr>
          <p:cNvPr id="16" name="Text: Heavy-ion and proton beam testing of the"/>
          <p:cNvSpPr txBox="1"/>
          <p:nvPr/>
        </p:nvSpPr>
        <p:spPr>
          <a:xfrm>
            <a:off x="6508750" y="4695428"/>
            <a:ext cx="1917700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chemeClr val="accent2"/>
                </a:solidFill>
              </a:rPr>
              <a:t>Heavy-ion and proton beam testing of the protection scheme.</a:t>
            </a:r>
            <a:endParaRPr lang="en-US" sz="1400" dirty="0"/>
          </a:p>
        </p:txBody>
      </p:sp>
      <p:sp>
        <p:nvSpPr>
          <p:cNvPr id="17" name="Card"/>
          <p:cNvSpPr/>
          <p:nvPr/>
        </p:nvSpPr>
        <p:spPr>
          <a:xfrm>
            <a:off x="8893175" y="3644503"/>
            <a:ext cx="2482850" cy="2397522"/>
          </a:xfrm>
          <a:prstGeom prst="roundRect">
            <a:avLst>
              <a:gd name="adj" fmla="val 4105"/>
            </a:avLst>
          </a:prstGeom>
          <a:solidFill>
            <a:schemeClr val="tx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8" name="Text: 04"/>
          <p:cNvSpPr txBox="1"/>
          <p:nvPr/>
        </p:nvSpPr>
        <p:spPr>
          <a:xfrm>
            <a:off x="9201150" y="3952478"/>
            <a:ext cx="1917700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: Tapeout"/>
          <p:cNvSpPr txBox="1"/>
          <p:nvPr/>
        </p:nvSpPr>
        <p:spPr>
          <a:xfrm>
            <a:off x="9201150" y="4276328"/>
            <a:ext cx="19177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chemeClr val="bg2"/>
                </a:solidFill>
              </a:rPr>
              <a:t>Tapeout</a:t>
            </a:r>
            <a:endParaRPr lang="en-US" sz="2000" dirty="0"/>
          </a:p>
        </p:txBody>
      </p:sp>
      <p:sp>
        <p:nvSpPr>
          <p:cNvPr id="20" name="Text: First silicon, then flight demonstration"/>
          <p:cNvSpPr txBox="1"/>
          <p:nvPr/>
        </p:nvSpPr>
        <p:spPr>
          <a:xfrm>
            <a:off x="9201150" y="4695428"/>
            <a:ext cx="191770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chemeClr val="accent2"/>
                </a:solidFill>
              </a:rPr>
              <a:t>First silicon, then flight demonstration.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812800" y="812800"/>
            <a:ext cx="6096000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"/>
              </a:spcBef>
              <a:buNone/>
            </a:pPr>
            <a:r>
              <a:rPr lang="en-US" sz="1200" spc="144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 IT</a:t>
            </a:r>
            <a:endParaRPr lang="en-US" sz="1200" dirty="0"/>
          </a:p>
        </p:txBody>
      </p:sp>
      <p:sp>
        <p:nvSpPr>
          <p:cNvPr id="3" name="Page tag"/>
          <p:cNvSpPr/>
          <p:nvPr>
            <p:ph idx="101" type="body" hasCustomPrompt="1"/>
          </p:nvPr>
        </p:nvSpPr>
        <p:spPr>
          <a:xfrm>
            <a:off x="7823200" y="812800"/>
            <a:ext cx="3556000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1"/>
              </a:spcBef>
              <a:buNone/>
            </a:pPr>
            <a:r>
              <a:rPr lang="en-US" sz="1200" spc="144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ORBIT-AI · 10</a:t>
            </a:r>
            <a:endParaRPr lang="en-US" sz="12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812800" y="1339850"/>
            <a:ext cx="10617200" cy="6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400" b="1" spc="-88" kern="0" dirty="0">
                <a:solidFill>
                  <a:schemeClr val="tx1"/>
                </a:solidFill>
              </a:rPr>
              <a:t>Explore the real layout in 3D.</a:t>
            </a:r>
            <a:endParaRPr lang="en-US" sz="4400" dirty="0"/>
          </a:p>
        </p:txBody>
      </p:sp>
      <p:sp>
        <p:nvSpPr>
          <p:cNvPr id="5" name="Text: Every block, fence, and copy is labeled "/>
          <p:cNvSpPr txBox="1"/>
          <p:nvPr/>
        </p:nvSpPr>
        <p:spPr>
          <a:xfrm>
            <a:off x="812800" y="2129730"/>
            <a:ext cx="8305800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chemeClr val="accent1"/>
                </a:solidFill>
              </a:rPr>
              <a:t>Every block, fence, and copy is labeled from the routed design data.</a:t>
            </a:r>
            <a:endParaRPr lang="en-US" sz="1800" dirty="0"/>
          </a:p>
        </p:txBody>
      </p:sp>
      <p:sp>
        <p:nvSpPr>
          <p:cNvPr id="6" name="Card"/>
          <p:cNvSpPr/>
          <p:nvPr/>
        </p:nvSpPr>
        <p:spPr>
          <a:xfrm>
            <a:off x="815975" y="4638675"/>
            <a:ext cx="3380284" cy="1403350"/>
          </a:xfrm>
          <a:prstGeom prst="roundRect">
            <a:avLst>
              <a:gd name="adj" fmla="val 7014"/>
            </a:avLst>
          </a:prstGeom>
          <a:noFill/>
          <a:ln w="6350">
            <a:solidFill>
              <a:schemeClr val="accent3"/>
            </a:solidFill>
            <a:prstDash val="solid"/>
          </a:ln>
        </p:spPr>
      </p:sp>
      <p:sp>
        <p:nvSpPr>
          <p:cNvPr id="7" name="Text: 3D die explorer"/>
          <p:cNvSpPr txBox="1"/>
          <p:nvPr/>
        </p:nvSpPr>
        <p:spPr>
          <a:xfrm>
            <a:off x="1123950" y="4946650"/>
            <a:ext cx="281513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3D die explorer</a:t>
            </a:r>
            <a:endParaRPr lang="en-US" sz="2200" dirty="0"/>
          </a:p>
        </p:txBody>
      </p:sp>
      <p:sp>
        <p:nvSpPr>
          <p:cNvPr id="8" name="Text: vittesh12345.github.io/chip/ orbit-ai/ex"/>
          <p:cNvSpPr txBox="1"/>
          <p:nvPr/>
        </p:nvSpPr>
        <p:spPr>
          <a:xfrm>
            <a:off x="1123950" y="5391150"/>
            <a:ext cx="2815134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vittesh12345.github.io/chip/</a:t>
            </a:r>
            <a:endParaRPr lang="en-US" sz="12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orbit-ai/explorer/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4405809" y="4638675"/>
            <a:ext cx="3380284" cy="1403350"/>
          </a:xfrm>
          <a:prstGeom prst="roundRect">
            <a:avLst>
              <a:gd name="adj" fmla="val 7014"/>
            </a:avLst>
          </a:prstGeom>
          <a:noFill/>
          <a:ln w="6350">
            <a:solidFill>
              <a:schemeClr val="accent3"/>
            </a:solidFill>
            <a:prstDash val="solid"/>
          </a:ln>
        </p:spPr>
      </p:sp>
      <p:sp>
        <p:nvSpPr>
          <p:cNvPr id="10" name="Text: Interactive story"/>
          <p:cNvSpPr txBox="1"/>
          <p:nvPr/>
        </p:nvSpPr>
        <p:spPr>
          <a:xfrm>
            <a:off x="4713784" y="4946650"/>
            <a:ext cx="281513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Interactive story</a:t>
            </a:r>
            <a:endParaRPr lang="en-US" sz="2200" dirty="0"/>
          </a:p>
        </p:txBody>
      </p:sp>
      <p:sp>
        <p:nvSpPr>
          <p:cNvPr id="11" name="Text: vittesh12345.github.io/chip/ orbit-ai/"/>
          <p:cNvSpPr txBox="1"/>
          <p:nvPr/>
        </p:nvSpPr>
        <p:spPr>
          <a:xfrm>
            <a:off x="4713784" y="5391150"/>
            <a:ext cx="2815134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vittesh12345.github.io/chip/</a:t>
            </a:r>
            <a:endParaRPr lang="en-US" sz="12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orbit-ai/</a:t>
            </a:r>
            <a:endParaRPr lang="en-US" sz="1200" dirty="0"/>
          </a:p>
        </p:txBody>
      </p:sp>
      <p:sp>
        <p:nvSpPr>
          <p:cNvPr id="12" name="Card"/>
          <p:cNvSpPr/>
          <p:nvPr/>
        </p:nvSpPr>
        <p:spPr>
          <a:xfrm>
            <a:off x="7995642" y="4638675"/>
            <a:ext cx="3380284" cy="1403350"/>
          </a:xfrm>
          <a:prstGeom prst="roundRect">
            <a:avLst>
              <a:gd name="adj" fmla="val 7014"/>
            </a:avLst>
          </a:prstGeom>
          <a:noFill/>
          <a:ln w="6350">
            <a:solidFill>
              <a:schemeClr val="accent3"/>
            </a:solidFill>
            <a:prstDash val="solid"/>
          </a:ln>
        </p:spPr>
      </p:sp>
      <p:sp>
        <p:nvSpPr>
          <p:cNvPr id="13" name="Text: Open source"/>
          <p:cNvSpPr txBox="1"/>
          <p:nvPr/>
        </p:nvSpPr>
        <p:spPr>
          <a:xfrm>
            <a:off x="8303617" y="4946650"/>
            <a:ext cx="281513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Open source</a:t>
            </a:r>
            <a:endParaRPr lang="en-US" sz="2200" dirty="0"/>
          </a:p>
        </p:txBody>
      </p:sp>
      <p:sp>
        <p:nvSpPr>
          <p:cNvPr id="14" name="Text: github.com/vittesh12345/chip"/>
          <p:cNvSpPr txBox="1"/>
          <p:nvPr/>
        </p:nvSpPr>
        <p:spPr>
          <a:xfrm>
            <a:off x="8303617" y="5391150"/>
            <a:ext cx="2815134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github.com/vittesh12345/chip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812800" y="812800"/>
            <a:ext cx="6096000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"/>
              </a:spcBef>
              <a:buNone/>
            </a:pPr>
            <a:r>
              <a:rPr lang="en-US" sz="1200" spc="144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VANTAGE</a:t>
            </a:r>
            <a:endParaRPr lang="en-US" sz="1200" dirty="0"/>
          </a:p>
        </p:txBody>
      </p:sp>
      <p:sp>
        <p:nvSpPr>
          <p:cNvPr id="3" name="Title"/>
          <p:cNvSpPr/>
          <p:nvPr>
            <p:ph idx="101" type="title" hasCustomPrompt="1"/>
          </p:nvPr>
        </p:nvSpPr>
        <p:spPr>
          <a:xfrm>
            <a:off x="812800" y="2746375"/>
            <a:ext cx="106172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spc="-180" kern="0" dirty="0">
                <a:solidFill>
                  <a:schemeClr val="bg2"/>
                </a:solidFill>
              </a:rPr>
              <a:t>AI that stays right in orbit.</a:t>
            </a:r>
            <a:endParaRPr lang="en-US" sz="6000" dirty="0"/>
          </a:p>
        </p:txBody>
      </p:sp>
      <p:sp>
        <p:nvSpPr>
          <p:cNvPr id="4" name="Text: Let&amp;apos;s talk."/>
          <p:cNvSpPr txBox="1"/>
          <p:nvPr/>
        </p:nvSpPr>
        <p:spPr>
          <a:xfrm>
            <a:off x="812800" y="3800475"/>
            <a:ext cx="1061720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Let's talk.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BIT-AI">
  <a:themeElements>
    <a:clrScheme name="ORBIT-AI">
      <a:dk1>
        <a:srgbClr val="16181C"/>
      </a:dk1>
      <a:lt1>
        <a:srgbClr val="FFFFFF"/>
      </a:lt1>
      <a:dk2>
        <a:srgbClr val="0E0F12"/>
      </a:dk2>
      <a:lt2>
        <a:srgbClr val="F4F4F2"/>
      </a:lt2>
      <a:accent1>
        <a:srgbClr val="565A62"/>
      </a:accent1>
      <a:accent2>
        <a:srgbClr val="A7ABB2"/>
      </a:accent2>
      <a:accent3>
        <a:srgbClr val="E3E4E6"/>
      </a:accent3>
      <a:accent4>
        <a:srgbClr val="2A2D33"/>
      </a:accent4>
      <a:accent5>
        <a:srgbClr val="F5F5F4"/>
      </a:accent5>
      <a:accent6>
        <a:srgbClr val="C4C6CA"/>
      </a:accent6>
      <a:hlink>
        <a:srgbClr val="16181C"/>
      </a:hlink>
      <a:folHlink>
        <a:srgbClr val="565A62"/>
      </a:folHlink>
    </a:clrScheme>
    <a:fontScheme name="ORBIT-AI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ORBIT-AI Space Chip</dc:title>
  <dc:subject>PptxGenJS Presentation</dc:subject>
  <dc:creator>PptxGenJS</dc:creator>
  <cp:lastModifiedBy>PptxGenJS</cp:lastModifiedBy>
  <cp:revision>1</cp:revision>
  <dcterms:created xsi:type="dcterms:W3CDTF">2026-10-06T23:39:14Z</dcterms:created>
  <dcterms:modified xsi:type="dcterms:W3CDTF">2026-10-06T23:39:14Z</dcterms:modified>
</cp:coreProperties>
</file>